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28"/>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914400"/>
          </a:xfrm>
          <a:prstGeom prst="rect">
            <a:avLst/>
          </a:prstGeom>
          <a:noFill/>
        </p:spPr>
        <p:txBody>
          <a:bodyPr wrap="square" anchor="t" lIns="0" rIns="0" tIns="0" bIns="0">
            <a:spAutoFit/>
          </a:bodyPr>
          <a:lstStyle/>
          <a:p>
            <a:pPr algn="l"/>
            <a:r>
              <a:rPr sz="3400" b="1">
                <a:solidFill>
                  <a:srgbClr val="FFFFFF"/>
                </a:solidFill>
                <a:latin typeface="Calibri"/>
              </a:rPr>
              <a:t>Informe de Evidencias de Pruebas</a:t>
            </a:r>
          </a:p>
        </p:txBody>
      </p:sp>
      <p:sp>
        <p:nvSpPr>
          <p:cNvPr id="4" name="TextBox 3"/>
          <p:cNvSpPr txBox="1"/>
          <p:nvPr/>
        </p:nvSpPr>
        <p:spPr>
          <a:xfrm>
            <a:off x="914400" y="2377440"/>
            <a:ext cx="10332720" cy="548640"/>
          </a:xfrm>
          <a:prstGeom prst="rect">
            <a:avLst/>
          </a:prstGeom>
          <a:noFill/>
        </p:spPr>
        <p:txBody>
          <a:bodyPr wrap="square" anchor="t" lIns="0" rIns="0" tIns="0" bIns="0">
            <a:spAutoFit/>
          </a:bodyPr>
          <a:lstStyle/>
          <a:p>
            <a:pPr algn="l"/>
            <a:r>
              <a:rPr sz="1800" b="0">
                <a:solidFill>
                  <a:srgbClr val="7FE0D6"/>
                </a:solidFill>
                <a:latin typeface="Calibri"/>
              </a:rPr>
              <a:t>RespiCare — Casos de prueba CP-001, CP-004, CP-007 y CP-009</a:t>
            </a:r>
          </a:p>
        </p:txBody>
      </p:sp>
      <p:sp>
        <p:nvSpPr>
          <p:cNvPr id="5" name="TextBox 4"/>
          <p:cNvSpPr txBox="1"/>
          <p:nvPr/>
        </p:nvSpPr>
        <p:spPr>
          <a:xfrm>
            <a:off x="914400" y="3337560"/>
            <a:ext cx="10332720" cy="1920240"/>
          </a:xfrm>
          <a:prstGeom prst="rect">
            <a:avLst/>
          </a:prstGeom>
          <a:noFill/>
        </p:spPr>
        <p:txBody>
          <a:bodyPr wrap="square" anchor="t" lIns="0" rIns="0" tIns="0" bIns="0">
            <a:spAutoFit/>
          </a:bodyPr>
          <a:lstStyle/>
          <a:p>
            <a:pPr>
              <a:spcAft>
                <a:spcPts val="400"/>
              </a:spcAft>
            </a:pPr>
            <a:r>
              <a:rPr sz="1400" b="0">
                <a:solidFill>
                  <a:srgbClr val="FFFFFF"/>
                </a:solidFill>
                <a:latin typeface="Calibri"/>
              </a:rPr>
              <a:t>Universidad Privada de Tacna</a:t>
            </a:r>
          </a:p>
          <a:p>
            <a:pPr>
              <a:spcAft>
                <a:spcPts val="400"/>
              </a:spcAft>
            </a:pPr>
            <a:r>
              <a:rPr sz="1400" b="0">
                <a:solidFill>
                  <a:srgbClr val="FFFFFF"/>
                </a:solidFill>
                <a:latin typeface="Calibri"/>
              </a:rPr>
              <a:t>Facultad de Ingeniería — Escuela Profesional de Ingeniería de Sistemas</a:t>
            </a:r>
          </a:p>
          <a:p>
            <a:pPr>
              <a:spcAft>
                <a:spcPts val="400"/>
              </a:spcAft>
            </a:pPr>
            <a:r>
              <a:rPr sz="1400" b="0">
                <a:solidFill>
                  <a:srgbClr val="FFFFFF"/>
                </a:solidFill>
                <a:latin typeface="Calibri"/>
              </a:rPr>
              <a:t>Curso: Construcción de Software II — Docente: Mag. Ricardo Eduardo Valcárcel Alvarado</a:t>
            </a:r>
          </a:p>
          <a:p>
            <a:pPr>
              <a:spcAft>
                <a:spcPts val="400"/>
              </a:spcAft>
            </a:pPr>
            <a:r>
              <a:rPr sz="1000" b="0">
                <a:solidFill>
                  <a:srgbClr val="FFFFFF"/>
                </a:solidFill>
                <a:latin typeface="Calibri"/>
              </a:rPr>
              <a:t/>
            </a:r>
          </a:p>
          <a:p>
            <a:pPr>
              <a:spcAft>
                <a:spcPts val="400"/>
              </a:spcAft>
            </a:pPr>
            <a:r>
              <a:rPr sz="1400" b="0">
                <a:solidFill>
                  <a:srgbClr val="7FE0D6"/>
                </a:solidFill>
                <a:latin typeface="Calibri"/>
              </a:rPr>
              <a:t>Cesar Fabian Chávez Linares — 2019063854</a:t>
            </a:r>
          </a:p>
          <a:p>
            <a:pPr>
              <a:spcAft>
                <a:spcPts val="400"/>
              </a:spcAft>
            </a:pPr>
            <a:r>
              <a:rPr sz="1400" b="0">
                <a:solidFill>
                  <a:srgbClr val="7FE0D6"/>
                </a:solidFill>
                <a:latin typeface="Calibri"/>
              </a:rPr>
              <a:t>Piero Alexander Paja De la Cruz — 2020067576</a:t>
            </a:r>
          </a:p>
        </p:txBody>
      </p:sp>
      <p:sp>
        <p:nvSpPr>
          <p:cNvPr id="6" name="TextBox 5"/>
          <p:cNvSpPr txBox="1"/>
          <p:nvPr/>
        </p:nvSpPr>
        <p:spPr>
          <a:xfrm>
            <a:off x="914400" y="5943600"/>
            <a:ext cx="10332720" cy="320040"/>
          </a:xfrm>
          <a:prstGeom prst="rect">
            <a:avLst/>
          </a:prstGeom>
          <a:noFill/>
        </p:spPr>
        <p:txBody>
          <a:bodyPr wrap="square" anchor="t" lIns="0" rIns="0" tIns="0" bIns="0">
            <a:spAutoFit/>
          </a:bodyPr>
          <a:lstStyle/>
          <a:p>
            <a:pPr algn="l"/>
            <a:r>
              <a:rPr sz="1200" b="0">
                <a:solidFill>
                  <a:srgbClr val="7FE0D6"/>
                </a:solidFill>
                <a:latin typeface="Calibri"/>
              </a:rPr>
              <a:t>Tacna – Perú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Agenda</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2</a:t>
            </a:r>
          </a:p>
        </p:txBody>
      </p:sp>
      <p:sp>
        <p:nvSpPr>
          <p:cNvPr id="7" name="TextBox 6"/>
          <p:cNvSpPr txBox="1"/>
          <p:nvPr/>
        </p:nvSpPr>
        <p:spPr>
          <a:xfrm>
            <a:off x="822960" y="1554480"/>
            <a:ext cx="10058400" cy="4754880"/>
          </a:xfrm>
          <a:prstGeom prst="rect">
            <a:avLst/>
          </a:prstGeom>
          <a:noFill/>
        </p:spPr>
        <p:txBody>
          <a:bodyPr wrap="square" anchor="t" lIns="0" rIns="0" tIns="0" bIns="0">
            <a:spAutoFit/>
          </a:bodyPr>
          <a:lstStyle/>
          <a:p>
            <a:pPr>
              <a:spcAft>
                <a:spcPts val="1000"/>
              </a:spcAft>
            </a:pPr>
            <a:r>
              <a:rPr sz="1800" b="0">
                <a:solidFill>
                  <a:srgbClr val="0F2A28"/>
                </a:solidFill>
                <a:latin typeface="Calibri"/>
              </a:rPr>
              <a:t>• Introducción y alcance del informe</a:t>
            </a:r>
          </a:p>
          <a:p>
            <a:pPr>
              <a:spcAft>
                <a:spcPts val="1000"/>
              </a:spcAft>
            </a:pPr>
            <a:r>
              <a:rPr sz="1800" b="0">
                <a:solidFill>
                  <a:srgbClr val="0F2A28"/>
                </a:solidFill>
                <a:latin typeface="Calibri"/>
              </a:rPr>
              <a:t>• CP-001 — Registro y autenticación de usuarios</a:t>
            </a:r>
          </a:p>
          <a:p>
            <a:pPr>
              <a:spcAft>
                <a:spcPts val="1000"/>
              </a:spcAft>
            </a:pPr>
            <a:r>
              <a:rPr sz="1800" b="0">
                <a:solidFill>
                  <a:srgbClr val="0F2A28"/>
                </a:solidFill>
                <a:latin typeface="Calibri"/>
              </a:rPr>
              <a:t>• CP-004 — Motor de reglas de emergencia clínica</a:t>
            </a:r>
          </a:p>
          <a:p>
            <a:pPr>
              <a:spcAft>
                <a:spcPts val="1000"/>
              </a:spcAft>
            </a:pPr>
            <a:r>
              <a:rPr sz="1800" b="0">
                <a:solidFill>
                  <a:srgbClr val="0F2A28"/>
                </a:solidFill>
                <a:latin typeface="Calibri"/>
              </a:rPr>
              <a:t>• CP-007 — Panel del doctor: revisión y firma de predicción de IA</a:t>
            </a:r>
          </a:p>
          <a:p>
            <a:pPr>
              <a:spcAft>
                <a:spcPts val="1000"/>
              </a:spcAft>
            </a:pPr>
            <a:r>
              <a:rPr sz="1800" b="0">
                <a:solidFill>
                  <a:srgbClr val="0F2A28"/>
                </a:solidFill>
                <a:latin typeface="Calibri"/>
              </a:rPr>
              <a:t>• CP-009 — Sistema de alertas y notificaciones</a:t>
            </a:r>
          </a:p>
          <a:p>
            <a:pPr>
              <a:spcAft>
                <a:spcPts val="1000"/>
              </a:spcAft>
            </a:pPr>
            <a:r>
              <a:rPr sz="1800" b="0">
                <a:solidFill>
                  <a:srgbClr val="0F2A28"/>
                </a:solidFill>
                <a:latin typeface="Calibri"/>
              </a:rPr>
              <a:t>• Resultados generales consolidados</a:t>
            </a:r>
          </a:p>
          <a:p>
            <a:pPr>
              <a:spcAft>
                <a:spcPts val="1000"/>
              </a:spcAft>
            </a:pPr>
            <a:r>
              <a:rPr sz="1800" b="0">
                <a:solidFill>
                  <a:srgbClr val="0F2A28"/>
                </a:solidFill>
                <a:latin typeface="Calibri"/>
              </a:rPr>
              <a:t>• Defectos encontrados</a:t>
            </a:r>
          </a:p>
          <a:p>
            <a:pPr>
              <a:spcAft>
                <a:spcPts val="1000"/>
              </a:spcAft>
            </a:pPr>
            <a:r>
              <a:rPr sz="1800" b="0">
                <a:solidFill>
                  <a:srgbClr val="0F2A28"/>
                </a:solidFill>
                <a:latin typeface="Calibri"/>
              </a:rPr>
              <a:t>• Conclusiones</a:t>
            </a:r>
          </a:p>
          <a:p>
            <a:pPr>
              <a:spcAft>
                <a:spcPts val="1000"/>
              </a:spcAft>
            </a:pPr>
            <a:r>
              <a:rPr sz="1800" b="0">
                <a:solidFill>
                  <a:srgbClr val="0F2A28"/>
                </a:solidFill>
                <a:latin typeface="Calibri"/>
              </a:rPr>
              <a:t>• Anexos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Introducción</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3</a:t>
            </a:r>
          </a:p>
        </p:txBody>
      </p:sp>
      <p:sp>
        <p:nvSpPr>
          <p:cNvPr id="7" name="TextBox 6"/>
          <p:cNvSpPr txBox="1"/>
          <p:nvPr/>
        </p:nvSpPr>
        <p:spPr>
          <a:xfrm>
            <a:off x="502920" y="1170432"/>
            <a:ext cx="10972800" cy="457200"/>
          </a:xfrm>
          <a:prstGeom prst="rect">
            <a:avLst/>
          </a:prstGeom>
          <a:noFill/>
        </p:spPr>
        <p:txBody>
          <a:bodyPr wrap="square" anchor="t" lIns="0" rIns="0" tIns="0" bIns="0">
            <a:spAutoFit/>
          </a:bodyPr>
          <a:lstStyle/>
          <a:p>
            <a:pPr algn="l"/>
            <a:r>
              <a:rPr sz="1400" b="0">
                <a:solidFill>
                  <a:srgbClr val="4A4A4A"/>
                </a:solidFill>
                <a:latin typeface="Calibri"/>
              </a:rPr>
              <a:t>Evidencia de ejecución real, no una especificación de diseño</a:t>
            </a:r>
          </a:p>
        </p:txBody>
      </p:sp>
      <p:sp>
        <p:nvSpPr>
          <p:cNvPr id="8" name="TextBox 7"/>
          <p:cNvSpPr txBox="1"/>
          <p:nvPr/>
        </p:nvSpPr>
        <p:spPr>
          <a:xfrm>
            <a:off x="822960" y="1645920"/>
            <a:ext cx="10332720" cy="4572000"/>
          </a:xfrm>
          <a:prstGeom prst="rect">
            <a:avLst/>
          </a:prstGeom>
          <a:noFill/>
        </p:spPr>
        <p:txBody>
          <a:bodyPr wrap="square" anchor="t" lIns="0" rIns="0" tIns="0" bIns="0">
            <a:spAutoFit/>
          </a:bodyPr>
          <a:lstStyle/>
          <a:p>
            <a:pPr>
              <a:spcAft>
                <a:spcPts val="1400"/>
              </a:spcAft>
            </a:pPr>
            <a:r>
              <a:rPr sz="1600" b="0">
                <a:solidFill>
                  <a:srgbClr val="0F2A28"/>
                </a:solidFill>
                <a:latin typeface="Calibri"/>
              </a:rPr>
              <a:t>• Consolida la evidencia de ejecución real de pruebas unitarias, de integración/E2E y funcionales de interfaz sobre cuatro casos del Catálogo de Pruebas de RespiCare.</a:t>
            </a:r>
          </a:p>
          <a:p>
            <a:pPr>
              <a:spcAft>
                <a:spcPts val="1400"/>
              </a:spcAft>
            </a:pPr>
            <a:r>
              <a:rPr sz="1600" b="0">
                <a:solidFill>
                  <a:srgbClr val="0F2A28"/>
                </a:solidFill>
                <a:latin typeface="Calibri"/>
              </a:rPr>
              <a:t>• Se levantó el backend real contra una base de datos MongoDB de desarrollo y se capturaron directamente los resultados de las suites Jest/Supertest.</a:t>
            </a:r>
          </a:p>
          <a:p>
            <a:pPr>
              <a:spcAft>
                <a:spcPts val="1400"/>
              </a:spcAft>
            </a:pPr>
            <a:r>
              <a:rPr sz="1600" b="0">
                <a:solidFill>
                  <a:srgbClr val="0F2A28"/>
                </a:solidFill>
                <a:latin typeface="Calibri"/>
              </a:rPr>
              <a:t>• Se automatizó la interacción con la interfaz web real mediante Playwright (Chromium) para capturar evidencia funcional de extremo a extremo.</a:t>
            </a:r>
          </a:p>
          <a:p>
            <a:pPr>
              <a:spcAft>
                <a:spcPts val="1400"/>
              </a:spcAft>
            </a:pPr>
            <a:r>
              <a:rPr sz="1600" b="0">
                <a:solidFill>
                  <a:srgbClr val="0F2A28"/>
                </a:solidFill>
                <a:latin typeface="Calibri"/>
              </a:rPr>
              <a:t>• Técnicas aplicadas: pruebas unitarias (Jest) sobre controladores/servicios, integración/E2E (Jest + Supertest) contra base de datos real, y funcionales (Playwright) sobre http://localhost:3000.</a:t>
            </a:r>
          </a:p>
          <a:p>
            <a:pPr>
              <a:spcAft>
                <a:spcPts val="1400"/>
              </a:spcAft>
            </a:pPr>
            <a:r>
              <a:rPr sz="1600" b="0">
                <a:solidFill>
                  <a:srgbClr val="0F2A28"/>
                </a:solidFill>
                <a:latin typeface="Calibri"/>
              </a:rPr>
              <a:t>• 228 pruebas automatizadas (unitarias + integración/E2E) exitosas, y 9 pasos funcionales de interfaz: 8 confirmaron el comportamiento esperado y 1 evidenció una desviación real del sistema.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Casos de Prueba Cubiertos</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4</a:t>
            </a:r>
          </a:p>
        </p:txBody>
      </p:sp>
      <p:sp>
        <p:nvSpPr>
          <p:cNvPr id="7" name="TextBox 6"/>
          <p:cNvSpPr txBox="1"/>
          <p:nvPr/>
        </p:nvSpPr>
        <p:spPr>
          <a:xfrm>
            <a:off x="502920" y="1170432"/>
            <a:ext cx="10972800" cy="457200"/>
          </a:xfrm>
          <a:prstGeom prst="rect">
            <a:avLst/>
          </a:prstGeom>
          <a:noFill/>
        </p:spPr>
        <p:txBody>
          <a:bodyPr wrap="square" anchor="t" lIns="0" rIns="0" tIns="0" bIns="0">
            <a:spAutoFit/>
          </a:bodyPr>
          <a:lstStyle/>
          <a:p>
            <a:pPr algn="l"/>
            <a:r>
              <a:rPr sz="1400" b="0">
                <a:solidFill>
                  <a:srgbClr val="4A4A4A"/>
                </a:solidFill>
                <a:latin typeface="Calibri"/>
              </a:rPr>
              <a:t>Cuatro casos del Catálogo de Pruebas de RespiCare</a:t>
            </a:r>
          </a:p>
        </p:txBody>
      </p:sp>
      <p:sp>
        <p:nvSpPr>
          <p:cNvPr id="8" name="Rectangle 7"/>
          <p:cNvSpPr/>
          <p:nvPr/>
        </p:nvSpPr>
        <p:spPr>
          <a:xfrm>
            <a:off x="822960" y="1700000"/>
            <a:ext cx="10424160" cy="72000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00000"/>
            <a:ext cx="1417120" cy="720000"/>
          </a:xfrm>
          <a:prstGeom prst="rect">
            <a:avLst/>
          </a:prstGeom>
          <a:noFill/>
        </p:spPr>
        <p:txBody>
          <a:bodyPr wrap="square" anchor="ctr" lIns="0" rIns="0" tIns="0" bIns="0">
            <a:spAutoFit/>
          </a:bodyPr>
          <a:lstStyle/>
          <a:p>
            <a:pPr algn="l"/>
            <a:r>
              <a:rPr sz="1300" b="1">
                <a:solidFill>
                  <a:srgbClr val="FFFFFF"/>
                </a:solidFill>
                <a:latin typeface="Calibri"/>
              </a:rPr>
              <a:t>Caso</a:t>
            </a:r>
          </a:p>
        </p:txBody>
      </p:sp>
      <p:sp>
        <p:nvSpPr>
          <p:cNvPr id="10" name="TextBox 9"/>
          <p:cNvSpPr txBox="1"/>
          <p:nvPr/>
        </p:nvSpPr>
        <p:spPr>
          <a:xfrm>
            <a:off x="2514400" y="1700000"/>
            <a:ext cx="4017120" cy="720000"/>
          </a:xfrm>
          <a:prstGeom prst="rect">
            <a:avLst/>
          </a:prstGeom>
          <a:noFill/>
        </p:spPr>
        <p:txBody>
          <a:bodyPr wrap="square" anchor="ctr" lIns="0" rIns="0" tIns="0" bIns="0">
            <a:spAutoFit/>
          </a:bodyPr>
          <a:lstStyle/>
          <a:p>
            <a:pPr algn="l"/>
            <a:r>
              <a:rPr sz="1300" b="1">
                <a:solidFill>
                  <a:srgbClr val="FFFFFF"/>
                </a:solidFill>
                <a:latin typeface="Calibri"/>
              </a:rPr>
              <a:t>RF asociado</a:t>
            </a:r>
          </a:p>
        </p:txBody>
      </p:sp>
      <p:sp>
        <p:nvSpPr>
          <p:cNvPr id="11" name="TextBox 10"/>
          <p:cNvSpPr txBox="1"/>
          <p:nvPr/>
        </p:nvSpPr>
        <p:spPr>
          <a:xfrm>
            <a:off x="6714400" y="1700000"/>
            <a:ext cx="1817120" cy="720000"/>
          </a:xfrm>
          <a:prstGeom prst="rect">
            <a:avLst/>
          </a:prstGeom>
          <a:noFill/>
        </p:spPr>
        <p:txBody>
          <a:bodyPr wrap="square" anchor="ctr" lIns="0" rIns="0" tIns="0" bIns="0">
            <a:spAutoFit/>
          </a:bodyPr>
          <a:lstStyle/>
          <a:p>
            <a:pPr algn="l"/>
            <a:r>
              <a:rPr sz="1300" b="1">
                <a:solidFill>
                  <a:srgbClr val="FFFFFF"/>
                </a:solidFill>
                <a:latin typeface="Calibri"/>
              </a:rPr>
              <a:t>Módulo</a:t>
            </a:r>
          </a:p>
        </p:txBody>
      </p:sp>
      <p:sp>
        <p:nvSpPr>
          <p:cNvPr id="12" name="TextBox 11"/>
          <p:cNvSpPr txBox="1"/>
          <p:nvPr/>
        </p:nvSpPr>
        <p:spPr>
          <a:xfrm>
            <a:off x="8714400" y="1700000"/>
            <a:ext cx="2441280" cy="720000"/>
          </a:xfrm>
          <a:prstGeom prst="rect">
            <a:avLst/>
          </a:prstGeom>
          <a:noFill/>
        </p:spPr>
        <p:txBody>
          <a:bodyPr wrap="square" anchor="ctr" lIns="0" rIns="0" tIns="0" bIns="0">
            <a:spAutoFit/>
          </a:bodyPr>
          <a:lstStyle/>
          <a:p>
            <a:pPr algn="l"/>
            <a:r>
              <a:rPr sz="1300" b="1">
                <a:solidFill>
                  <a:srgbClr val="FFFFFF"/>
                </a:solidFill>
                <a:latin typeface="Calibri"/>
              </a:rPr>
              <a:t>Tipo de prueba</a:t>
            </a:r>
          </a:p>
        </p:txBody>
      </p:sp>
      <p:sp>
        <p:nvSpPr>
          <p:cNvPr id="13" name="Rectangle 12"/>
          <p:cNvSpPr/>
          <p:nvPr/>
        </p:nvSpPr>
        <p:spPr>
          <a:xfrm>
            <a:off x="822960" y="2420000"/>
            <a:ext cx="10424160" cy="72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20000"/>
            <a:ext cx="1417120" cy="720000"/>
          </a:xfrm>
          <a:prstGeom prst="rect">
            <a:avLst/>
          </a:prstGeom>
          <a:noFill/>
        </p:spPr>
        <p:txBody>
          <a:bodyPr wrap="square" anchor="ctr" lIns="0" rIns="0" tIns="0" bIns="0">
            <a:spAutoFit/>
          </a:bodyPr>
          <a:lstStyle/>
          <a:p>
            <a:pPr algn="l"/>
            <a:r>
              <a:rPr sz="1200" b="1">
                <a:solidFill>
                  <a:srgbClr val="0F2A28"/>
                </a:solidFill>
                <a:latin typeface="Calibri"/>
              </a:rPr>
              <a:t>CP-001</a:t>
            </a:r>
          </a:p>
        </p:txBody>
      </p:sp>
      <p:sp>
        <p:nvSpPr>
          <p:cNvPr id="15" name="TextBox 14"/>
          <p:cNvSpPr txBox="1"/>
          <p:nvPr/>
        </p:nvSpPr>
        <p:spPr>
          <a:xfrm>
            <a:off x="2514400" y="2420000"/>
            <a:ext cx="4017120" cy="720000"/>
          </a:xfrm>
          <a:prstGeom prst="rect">
            <a:avLst/>
          </a:prstGeom>
          <a:noFill/>
        </p:spPr>
        <p:txBody>
          <a:bodyPr wrap="square" anchor="ctr" lIns="0" rIns="0" tIns="0" bIns="0">
            <a:spAutoFit/>
          </a:bodyPr>
          <a:lstStyle/>
          <a:p>
            <a:pPr algn="l"/>
            <a:r>
              <a:rPr sz="1200" b="0">
                <a:solidFill>
                  <a:srgbClr val="0F2A28"/>
                </a:solidFill>
                <a:latin typeface="Calibri"/>
              </a:rPr>
              <a:t>RF-001 — Gestión de usuarios</a:t>
            </a:r>
          </a:p>
        </p:txBody>
      </p:sp>
      <p:sp>
        <p:nvSpPr>
          <p:cNvPr id="16" name="TextBox 15"/>
          <p:cNvSpPr txBox="1"/>
          <p:nvPr/>
        </p:nvSpPr>
        <p:spPr>
          <a:xfrm>
            <a:off x="6714400" y="2420000"/>
            <a:ext cx="1817120" cy="720000"/>
          </a:xfrm>
          <a:prstGeom prst="rect">
            <a:avLst/>
          </a:prstGeom>
          <a:noFill/>
        </p:spPr>
        <p:txBody>
          <a:bodyPr wrap="square" anchor="ctr" lIns="0" rIns="0" tIns="0" bIns="0">
            <a:spAutoFit/>
          </a:bodyPr>
          <a:lstStyle/>
          <a:p>
            <a:pPr algn="l"/>
            <a:r>
              <a:rPr sz="1200" b="0">
                <a:solidFill>
                  <a:srgbClr val="0F2A28"/>
                </a:solidFill>
                <a:latin typeface="Calibri"/>
              </a:rPr>
              <a:t>Autenticación</a:t>
            </a:r>
          </a:p>
        </p:txBody>
      </p:sp>
      <p:sp>
        <p:nvSpPr>
          <p:cNvPr id="17" name="TextBox 16"/>
          <p:cNvSpPr txBox="1"/>
          <p:nvPr/>
        </p:nvSpPr>
        <p:spPr>
          <a:xfrm>
            <a:off x="8714400" y="2420000"/>
            <a:ext cx="2441280" cy="720000"/>
          </a:xfrm>
          <a:prstGeom prst="rect">
            <a:avLst/>
          </a:prstGeom>
          <a:noFill/>
        </p:spPr>
        <p:txBody>
          <a:bodyPr wrap="square" anchor="ctr" lIns="0" rIns="0" tIns="0" bIns="0">
            <a:spAutoFit/>
          </a:bodyPr>
          <a:lstStyle/>
          <a:p>
            <a:pPr algn="l"/>
            <a:r>
              <a:rPr sz="1200" b="0">
                <a:solidFill>
                  <a:srgbClr val="0F2A28"/>
                </a:solidFill>
                <a:latin typeface="Calibri"/>
              </a:rPr>
              <a:t>Unitaria + Integración + Funcional</a:t>
            </a:r>
          </a:p>
        </p:txBody>
      </p:sp>
      <p:sp>
        <p:nvSpPr>
          <p:cNvPr id="18" name="Rectangle 17"/>
          <p:cNvSpPr/>
          <p:nvPr/>
        </p:nvSpPr>
        <p:spPr>
          <a:xfrm>
            <a:off x="822960" y="3140000"/>
            <a:ext cx="10424160" cy="7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140000"/>
            <a:ext cx="1417120" cy="720000"/>
          </a:xfrm>
          <a:prstGeom prst="rect">
            <a:avLst/>
          </a:prstGeom>
          <a:noFill/>
        </p:spPr>
        <p:txBody>
          <a:bodyPr wrap="square" anchor="ctr" lIns="0" rIns="0" tIns="0" bIns="0">
            <a:spAutoFit/>
          </a:bodyPr>
          <a:lstStyle/>
          <a:p>
            <a:pPr algn="l"/>
            <a:r>
              <a:rPr sz="1200" b="1">
                <a:solidFill>
                  <a:srgbClr val="0F2A28"/>
                </a:solidFill>
                <a:latin typeface="Calibri"/>
              </a:rPr>
              <a:t>CP-004</a:t>
            </a:r>
          </a:p>
        </p:txBody>
      </p:sp>
      <p:sp>
        <p:nvSpPr>
          <p:cNvPr id="20" name="TextBox 19"/>
          <p:cNvSpPr txBox="1"/>
          <p:nvPr/>
        </p:nvSpPr>
        <p:spPr>
          <a:xfrm>
            <a:off x="2514400" y="3140000"/>
            <a:ext cx="4017120" cy="720000"/>
          </a:xfrm>
          <a:prstGeom prst="rect">
            <a:avLst/>
          </a:prstGeom>
          <a:noFill/>
        </p:spPr>
        <p:txBody>
          <a:bodyPr wrap="square" anchor="ctr" lIns="0" rIns="0" tIns="0" bIns="0">
            <a:spAutoFit/>
          </a:bodyPr>
          <a:lstStyle/>
          <a:p>
            <a:pPr algn="l"/>
            <a:r>
              <a:rPr sz="1200" b="0">
                <a:solidFill>
                  <a:srgbClr val="0F2A28"/>
                </a:solidFill>
                <a:latin typeface="Calibri"/>
              </a:rPr>
              <a:t>RF-004 — Reglas clínicas de emergencia</a:t>
            </a:r>
          </a:p>
        </p:txBody>
      </p:sp>
      <p:sp>
        <p:nvSpPr>
          <p:cNvPr id="21" name="TextBox 20"/>
          <p:cNvSpPr txBox="1"/>
          <p:nvPr/>
        </p:nvSpPr>
        <p:spPr>
          <a:xfrm>
            <a:off x="6714400" y="3140000"/>
            <a:ext cx="1817120" cy="720000"/>
          </a:xfrm>
          <a:prstGeom prst="rect">
            <a:avLst/>
          </a:prstGeom>
          <a:noFill/>
        </p:spPr>
        <p:txBody>
          <a:bodyPr wrap="square" anchor="ctr" lIns="0" rIns="0" tIns="0" bIns="0">
            <a:spAutoFit/>
          </a:bodyPr>
          <a:lstStyle/>
          <a:p>
            <a:pPr algn="l"/>
            <a:r>
              <a:rPr sz="1200" b="0">
                <a:solidFill>
                  <a:srgbClr val="0F2A28"/>
                </a:solidFill>
                <a:latin typeface="Calibri"/>
              </a:rPr>
              <a:t>Emergencias</a:t>
            </a:r>
          </a:p>
        </p:txBody>
      </p:sp>
      <p:sp>
        <p:nvSpPr>
          <p:cNvPr id="22" name="TextBox 21"/>
          <p:cNvSpPr txBox="1"/>
          <p:nvPr/>
        </p:nvSpPr>
        <p:spPr>
          <a:xfrm>
            <a:off x="8714400" y="3140000"/>
            <a:ext cx="2441280" cy="720000"/>
          </a:xfrm>
          <a:prstGeom prst="rect">
            <a:avLst/>
          </a:prstGeom>
          <a:noFill/>
        </p:spPr>
        <p:txBody>
          <a:bodyPr wrap="square" anchor="ctr" lIns="0" rIns="0" tIns="0" bIns="0">
            <a:spAutoFit/>
          </a:bodyPr>
          <a:lstStyle/>
          <a:p>
            <a:pPr algn="l"/>
            <a:r>
              <a:rPr sz="1200" b="0">
                <a:solidFill>
                  <a:srgbClr val="0F2A28"/>
                </a:solidFill>
                <a:latin typeface="Calibri"/>
              </a:rPr>
              <a:t>Unitaria + E2E + Funcional</a:t>
            </a:r>
          </a:p>
        </p:txBody>
      </p:sp>
      <p:sp>
        <p:nvSpPr>
          <p:cNvPr id="23" name="Rectangle 22"/>
          <p:cNvSpPr/>
          <p:nvPr/>
        </p:nvSpPr>
        <p:spPr>
          <a:xfrm>
            <a:off x="822960" y="3860000"/>
            <a:ext cx="10424160" cy="72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860000"/>
            <a:ext cx="1417120" cy="720000"/>
          </a:xfrm>
          <a:prstGeom prst="rect">
            <a:avLst/>
          </a:prstGeom>
          <a:noFill/>
        </p:spPr>
        <p:txBody>
          <a:bodyPr wrap="square" anchor="ctr" lIns="0" rIns="0" tIns="0" bIns="0">
            <a:spAutoFit/>
          </a:bodyPr>
          <a:lstStyle/>
          <a:p>
            <a:pPr algn="l"/>
            <a:r>
              <a:rPr sz="1200" b="1">
                <a:solidFill>
                  <a:srgbClr val="0F2A28"/>
                </a:solidFill>
                <a:latin typeface="Calibri"/>
              </a:rPr>
              <a:t>CP-007</a:t>
            </a:r>
          </a:p>
        </p:txBody>
      </p:sp>
      <p:sp>
        <p:nvSpPr>
          <p:cNvPr id="25" name="TextBox 24"/>
          <p:cNvSpPr txBox="1"/>
          <p:nvPr/>
        </p:nvSpPr>
        <p:spPr>
          <a:xfrm>
            <a:off x="2514400" y="3860000"/>
            <a:ext cx="4017120" cy="720000"/>
          </a:xfrm>
          <a:prstGeom prst="rect">
            <a:avLst/>
          </a:prstGeom>
          <a:noFill/>
        </p:spPr>
        <p:txBody>
          <a:bodyPr wrap="square" anchor="ctr" lIns="0" rIns="0" tIns="0" bIns="0">
            <a:spAutoFit/>
          </a:bodyPr>
          <a:lstStyle/>
          <a:p>
            <a:pPr algn="l"/>
            <a:r>
              <a:rPr sz="1200" b="0">
                <a:solidFill>
                  <a:srgbClr val="0F2A28"/>
                </a:solidFill>
                <a:latin typeface="Calibri"/>
              </a:rPr>
              <a:t>RF-007 — Panel del doctor</a:t>
            </a:r>
          </a:p>
        </p:txBody>
      </p:sp>
      <p:sp>
        <p:nvSpPr>
          <p:cNvPr id="26" name="TextBox 25"/>
          <p:cNvSpPr txBox="1"/>
          <p:nvPr/>
        </p:nvSpPr>
        <p:spPr>
          <a:xfrm>
            <a:off x="6714400" y="3860000"/>
            <a:ext cx="1817120" cy="720000"/>
          </a:xfrm>
          <a:prstGeom prst="rect">
            <a:avLst/>
          </a:prstGeom>
          <a:noFill/>
        </p:spPr>
        <p:txBody>
          <a:bodyPr wrap="square" anchor="ctr" lIns="0" rIns="0" tIns="0" bIns="0">
            <a:spAutoFit/>
          </a:bodyPr>
          <a:lstStyle/>
          <a:p>
            <a:pPr algn="l"/>
            <a:r>
              <a:rPr sz="1200" b="0">
                <a:solidFill>
                  <a:srgbClr val="0F2A28"/>
                </a:solidFill>
                <a:latin typeface="Calibri"/>
              </a:rPr>
              <a:t>Revisión de IA</a:t>
            </a:r>
          </a:p>
        </p:txBody>
      </p:sp>
      <p:sp>
        <p:nvSpPr>
          <p:cNvPr id="27" name="TextBox 26"/>
          <p:cNvSpPr txBox="1"/>
          <p:nvPr/>
        </p:nvSpPr>
        <p:spPr>
          <a:xfrm>
            <a:off x="8714400" y="3860000"/>
            <a:ext cx="2441280" cy="720000"/>
          </a:xfrm>
          <a:prstGeom prst="rect">
            <a:avLst/>
          </a:prstGeom>
          <a:noFill/>
        </p:spPr>
        <p:txBody>
          <a:bodyPr wrap="square" anchor="ctr" lIns="0" rIns="0" tIns="0" bIns="0">
            <a:spAutoFit/>
          </a:bodyPr>
          <a:lstStyle/>
          <a:p>
            <a:pPr algn="l"/>
            <a:r>
              <a:rPr sz="1200" b="0">
                <a:solidFill>
                  <a:srgbClr val="0F2A28"/>
                </a:solidFill>
                <a:latin typeface="Calibri"/>
              </a:rPr>
              <a:t>Unitaria + Integración + Funcional</a:t>
            </a:r>
          </a:p>
        </p:txBody>
      </p:sp>
      <p:sp>
        <p:nvSpPr>
          <p:cNvPr id="28" name="Rectangle 27"/>
          <p:cNvSpPr/>
          <p:nvPr/>
        </p:nvSpPr>
        <p:spPr>
          <a:xfrm>
            <a:off x="822960" y="4580000"/>
            <a:ext cx="10424160" cy="7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580000"/>
            <a:ext cx="1417120" cy="720000"/>
          </a:xfrm>
          <a:prstGeom prst="rect">
            <a:avLst/>
          </a:prstGeom>
          <a:noFill/>
        </p:spPr>
        <p:txBody>
          <a:bodyPr wrap="square" anchor="ctr" lIns="0" rIns="0" tIns="0" bIns="0">
            <a:spAutoFit/>
          </a:bodyPr>
          <a:lstStyle/>
          <a:p>
            <a:pPr algn="l"/>
            <a:r>
              <a:rPr sz="1200" b="1">
                <a:solidFill>
                  <a:srgbClr val="0F2A28"/>
                </a:solidFill>
                <a:latin typeface="Calibri"/>
              </a:rPr>
              <a:t>CP-009</a:t>
            </a:r>
          </a:p>
        </p:txBody>
      </p:sp>
      <p:sp>
        <p:nvSpPr>
          <p:cNvPr id="30" name="TextBox 29"/>
          <p:cNvSpPr txBox="1"/>
          <p:nvPr/>
        </p:nvSpPr>
        <p:spPr>
          <a:xfrm>
            <a:off x="2514400" y="4580000"/>
            <a:ext cx="4017120" cy="720000"/>
          </a:xfrm>
          <a:prstGeom prst="rect">
            <a:avLst/>
          </a:prstGeom>
          <a:noFill/>
        </p:spPr>
        <p:txBody>
          <a:bodyPr wrap="square" anchor="ctr" lIns="0" rIns="0" tIns="0" bIns="0">
            <a:spAutoFit/>
          </a:bodyPr>
          <a:lstStyle/>
          <a:p>
            <a:pPr algn="l"/>
            <a:r>
              <a:rPr sz="1200" b="0">
                <a:solidFill>
                  <a:srgbClr val="0F2A28"/>
                </a:solidFill>
                <a:latin typeface="Calibri"/>
              </a:rPr>
              <a:t>RF-009 — Sistema de alertas y notificaciones</a:t>
            </a:r>
          </a:p>
        </p:txBody>
      </p:sp>
      <p:sp>
        <p:nvSpPr>
          <p:cNvPr id="31" name="TextBox 30"/>
          <p:cNvSpPr txBox="1"/>
          <p:nvPr/>
        </p:nvSpPr>
        <p:spPr>
          <a:xfrm>
            <a:off x="6714400" y="4580000"/>
            <a:ext cx="1817120" cy="720000"/>
          </a:xfrm>
          <a:prstGeom prst="rect">
            <a:avLst/>
          </a:prstGeom>
          <a:noFill/>
        </p:spPr>
        <p:txBody>
          <a:bodyPr wrap="square" anchor="ctr" lIns="0" rIns="0" tIns="0" bIns="0">
            <a:spAutoFit/>
          </a:bodyPr>
          <a:lstStyle/>
          <a:p>
            <a:pPr algn="l"/>
            <a:r>
              <a:rPr sz="1200" b="0">
                <a:solidFill>
                  <a:srgbClr val="0F2A28"/>
                </a:solidFill>
                <a:latin typeface="Calibri"/>
              </a:rPr>
              <a:t>Alertas</a:t>
            </a:r>
          </a:p>
        </p:txBody>
      </p:sp>
      <p:sp>
        <p:nvSpPr>
          <p:cNvPr id="32" name="TextBox 31"/>
          <p:cNvSpPr txBox="1"/>
          <p:nvPr/>
        </p:nvSpPr>
        <p:spPr>
          <a:xfrm>
            <a:off x="8714400" y="4580000"/>
            <a:ext cx="2441280" cy="720000"/>
          </a:xfrm>
          <a:prstGeom prst="rect">
            <a:avLst/>
          </a:prstGeom>
          <a:noFill/>
        </p:spPr>
        <p:txBody>
          <a:bodyPr wrap="square" anchor="ctr" lIns="0" rIns="0" tIns="0" bIns="0">
            <a:spAutoFit/>
          </a:bodyPr>
          <a:lstStyle/>
          <a:p>
            <a:pPr algn="l"/>
            <a:r>
              <a:rPr sz="1200" b="0">
                <a:solidFill>
                  <a:srgbClr val="0F2A28"/>
                </a:solidFill>
                <a:latin typeface="Calibri"/>
              </a:rPr>
              <a:t>Unitaria + E2E + Funcional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CP-001 — Registro y Autenticación de Usuarios</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5</a:t>
            </a:r>
          </a:p>
        </p:txBody>
      </p:sp>
      <p:sp>
        <p:nvSpPr>
          <p:cNvPr id="7" name="TextBox 6"/>
          <p:cNvSpPr txBox="1"/>
          <p:nvPr/>
        </p:nvSpPr>
        <p:spPr>
          <a:xfrm>
            <a:off x="822960" y="1463040"/>
            <a:ext cx="10332720" cy="566420"/>
          </a:xfrm>
          <a:prstGeom prst="rect">
            <a:avLst/>
          </a:prstGeom>
          <a:noFill/>
        </p:spPr>
        <p:txBody>
          <a:bodyPr wrap="square" anchor="t" lIns="0" rIns="0" tIns="0" bIns="0">
            <a:spAutoFit/>
          </a:bodyPr>
          <a:lstStyle/>
          <a:p>
            <a:pPr>
              <a:spcAft>
                <a:spcPts val="800"/>
              </a:spcAft>
            </a:pPr>
            <a:r>
              <a:rPr sz="1500" b="0">
                <a:solidFill>
                  <a:srgbClr val="0F2A28"/>
                </a:solidFill>
                <a:latin typeface="Calibri"/>
              </a:rPr>
              <a:t>• Alcance: registro de pacientes, inicio de sesión, validación de credenciales y middleware de autorización por rol.</a:t>
            </a:r>
          </a:p>
        </p:txBody>
      </p:sp>
      <p:sp>
        <p:nvSpPr>
          <p:cNvPr id="8" name="TextBox 7"/>
          <p:cNvSpPr txBox="1"/>
          <p:nvPr/>
        </p:nvSpPr>
        <p:spPr>
          <a:xfrm>
            <a:off x="822960" y="2179460"/>
            <a:ext cx="10332720" cy="2033270"/>
          </a:xfrm>
          <a:prstGeom prst="rect">
            <a:avLst/>
          </a:prstGeom>
          <a:noFill/>
        </p:spPr>
        <p:txBody>
          <a:bodyPr wrap="square" anchor="t" lIns="0" rIns="0" tIns="0" bIns="0">
            <a:spAutoFit/>
          </a:bodyPr>
          <a:lstStyle/>
          <a:p>
            <a:pPr>
              <a:spcAft>
                <a:spcPts val="800"/>
              </a:spcAft>
            </a:pPr>
            <a:r>
              <a:rPr sz="1500" b="0">
                <a:solidFill>
                  <a:srgbClr val="339933"/>
                </a:solidFill>
                <a:latin typeface="Calibri"/>
              </a:rPr>
              <a:t>• 100 / 100 pruebas unitarias exitosas (authController, authValidators, middleware/auth).</a:t>
            </a:r>
          </a:p>
          <a:p>
            <a:pPr>
              <a:spcAft>
                <a:spcPts val="800"/>
              </a:spcAft>
            </a:pPr>
            <a:r>
              <a:rPr sz="1500" b="0">
                <a:solidFill>
                  <a:srgbClr val="339933"/>
                </a:solidFill>
                <a:latin typeface="Calibri"/>
              </a:rPr>
              <a:t>• 4 / 4 pruebas de integración exitosas contra backend real y base de datos de desarrollo.</a:t>
            </a:r>
          </a:p>
          <a:p>
            <a:pPr>
              <a:spcAft>
                <a:spcPts val="800"/>
              </a:spcAft>
            </a:pPr>
            <a:r>
              <a:rPr sz="1500" b="0">
                <a:solidFill>
                  <a:srgbClr val="339933"/>
                </a:solidFill>
                <a:latin typeface="Calibri"/>
              </a:rPr>
              <a:t>• 3 / 3 pasos funcionales de interfaz exitosos sobre la aplicación real.</a:t>
            </a:r>
          </a:p>
          <a:p>
            <a:pPr>
              <a:spcAft>
                <a:spcPts val="800"/>
              </a:spcAft>
            </a:pPr>
            <a:r>
              <a:rPr sz="1500" b="0">
                <a:solidFill>
                  <a:srgbClr val="339933"/>
                </a:solidFill>
                <a:latin typeface="Calibri"/>
              </a:rPr>
              <a:t>• Resultado: módulo validado de extremo a extremo (backend, persistencia e interfaz web). Sin defectos encontrados.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CP-001 — Evidencia de Ejecución</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6</a:t>
            </a:r>
          </a:p>
        </p:txBody>
      </p:sp>
      <p:pic>
        <p:nvPicPr>
          <p:cNvPr id="7" name="Picture 6" descr="image2.png"/>
          <p:cNvPicPr>
            <a:picLocks noChangeAspect="1"/>
          </p:cNvPicPr>
          <p:nvPr/>
        </p:nvPicPr>
        <p:blipFill>
          <a:blip r:embed="rId2"/>
          <a:stretch>
            <a:fillRect/>
          </a:stretch>
        </p:blipFill>
        <p:spPr>
          <a:xfrm>
            <a:off x="1638669" y="1300000"/>
            <a:ext cx="3383588" cy="2005000"/>
          </a:xfrm>
          <a:prstGeom prst="rect">
            <a:avLst/>
          </a:prstGeom>
          <a:ln w="9525">
            <a:solidFill>
              <a:srgbClr val="DDDDDD"/>
            </a:solidFill>
          </a:ln>
        </p:spPr>
      </p:pic>
      <p:sp>
        <p:nvSpPr>
          <p:cNvPr id="8" name="TextBox 7"/>
          <p:cNvSpPr txBox="1"/>
          <p:nvPr/>
        </p:nvSpPr>
        <p:spPr>
          <a:xfrm>
            <a:off x="640080" y="3335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2.1 — Unitarias: 100/100 (authController, authValidators, auth middleware)</a:t>
            </a:r>
          </a:p>
        </p:txBody>
      </p:sp>
      <p:pic>
        <p:nvPicPr>
          <p:cNvPr id="9" name="Picture 8" descr="image3.png"/>
          <p:cNvPicPr>
            <a:picLocks noChangeAspect="1"/>
          </p:cNvPicPr>
          <p:nvPr/>
        </p:nvPicPr>
        <p:blipFill>
          <a:blip r:embed="rId3"/>
          <a:stretch>
            <a:fillRect/>
          </a:stretch>
        </p:blipFill>
        <p:spPr>
          <a:xfrm>
            <a:off x="7169436" y="1300000"/>
            <a:ext cx="3383588" cy="2005000"/>
          </a:xfrm>
          <a:prstGeom prst="rect">
            <a:avLst/>
          </a:prstGeom>
          <a:ln w="9525">
            <a:solidFill>
              <a:srgbClr val="DDDDDD"/>
            </a:solidFill>
          </a:ln>
        </p:spPr>
      </p:pic>
      <p:sp>
        <p:nvSpPr>
          <p:cNvPr id="10" name="TextBox 9"/>
          <p:cNvSpPr txBox="1"/>
          <p:nvPr/>
        </p:nvSpPr>
        <p:spPr>
          <a:xfrm>
            <a:off x="6170847" y="3335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2.2 — Integración: 4/4 contra backend y MongoDB reales</a:t>
            </a:r>
          </a:p>
        </p:txBody>
      </p:sp>
      <p:pic>
        <p:nvPicPr>
          <p:cNvPr id="11" name="Picture 10" descr="image4.png"/>
          <p:cNvPicPr>
            <a:picLocks noChangeAspect="1"/>
          </p:cNvPicPr>
          <p:nvPr/>
        </p:nvPicPr>
        <p:blipFill>
          <a:blip r:embed="rId4"/>
          <a:stretch>
            <a:fillRect/>
          </a:stretch>
        </p:blipFill>
        <p:spPr>
          <a:xfrm>
            <a:off x="2111850" y="3875000"/>
            <a:ext cx="2437226" cy="2005000"/>
          </a:xfrm>
          <a:prstGeom prst="rect">
            <a:avLst/>
          </a:prstGeom>
          <a:ln w="9525">
            <a:solidFill>
              <a:srgbClr val="DDDDDD"/>
            </a:solidFill>
          </a:ln>
        </p:spPr>
      </p:pic>
      <p:sp>
        <p:nvSpPr>
          <p:cNvPr id="12" name="TextBox 11"/>
          <p:cNvSpPr txBox="1"/>
          <p:nvPr/>
        </p:nvSpPr>
        <p:spPr>
          <a:xfrm>
            <a:off x="640080" y="5910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2.3 — Registro exitoso: redirección al área del paciente autenticado</a:t>
            </a:r>
          </a:p>
        </p:txBody>
      </p:sp>
      <p:pic>
        <p:nvPicPr>
          <p:cNvPr id="13" name="Picture 12" descr="image6.png"/>
          <p:cNvPicPr>
            <a:picLocks noChangeAspect="1"/>
          </p:cNvPicPr>
          <p:nvPr/>
        </p:nvPicPr>
        <p:blipFill>
          <a:blip r:embed="rId5"/>
          <a:stretch>
            <a:fillRect/>
          </a:stretch>
        </p:blipFill>
        <p:spPr>
          <a:xfrm>
            <a:off x="7284818" y="3875000"/>
            <a:ext cx="3152825" cy="2005000"/>
          </a:xfrm>
          <a:prstGeom prst="rect">
            <a:avLst/>
          </a:prstGeom>
          <a:ln w="9525">
            <a:solidFill>
              <a:srgbClr val="DDDDDD"/>
            </a:solidFill>
          </a:ln>
        </p:spPr>
      </p:pic>
      <p:sp>
        <p:nvSpPr>
          <p:cNvPr id="14" name="TextBox 13"/>
          <p:cNvSpPr txBox="1"/>
          <p:nvPr/>
        </p:nvSpPr>
        <p:spPr>
          <a:xfrm>
            <a:off x="6170847" y="5910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2.5 — Rechazo correcto de credenciales inválidas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CP-004 — Motor de Reglas de Emergencia Clínica</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7</a:t>
            </a:r>
          </a:p>
        </p:txBody>
      </p:sp>
      <p:sp>
        <p:nvSpPr>
          <p:cNvPr id="7" name="TextBox 6"/>
          <p:cNvSpPr txBox="1"/>
          <p:nvPr/>
        </p:nvSpPr>
        <p:spPr>
          <a:xfrm>
            <a:off x="822960" y="1463040"/>
            <a:ext cx="10332720" cy="798830"/>
          </a:xfrm>
          <a:prstGeom prst="rect">
            <a:avLst/>
          </a:prstGeom>
          <a:noFill/>
        </p:spPr>
        <p:txBody>
          <a:bodyPr wrap="square" anchor="t" lIns="0" rIns="0" tIns="0" bIns="0">
            <a:spAutoFit/>
          </a:bodyPr>
          <a:lstStyle/>
          <a:p>
            <a:pPr>
              <a:spcAft>
                <a:spcPts val="800"/>
              </a:spcAft>
            </a:pPr>
            <a:r>
              <a:rPr sz="1500" b="0">
                <a:solidFill>
                  <a:srgbClr val="0F2A28"/>
                </a:solidFill>
                <a:latin typeface="Calibri"/>
              </a:rPr>
              <a:t>• Alcance: EmergencyService — detección automática de combinaciones de síntomas críticos, despacho de ambulancia y notificación a hospitales, sin esperar al modelo de IA.</a:t>
            </a:r>
          </a:p>
        </p:txBody>
      </p:sp>
      <p:sp>
        <p:nvSpPr>
          <p:cNvPr id="8" name="TextBox 7"/>
          <p:cNvSpPr txBox="1"/>
          <p:nvPr/>
        </p:nvSpPr>
        <p:spPr>
          <a:xfrm>
            <a:off x="822960" y="2411870"/>
            <a:ext cx="10332720" cy="1132840"/>
          </a:xfrm>
          <a:prstGeom prst="rect">
            <a:avLst/>
          </a:prstGeom>
          <a:noFill/>
        </p:spPr>
        <p:txBody>
          <a:bodyPr wrap="square" anchor="t" lIns="0" rIns="0" tIns="0" bIns="0">
            <a:spAutoFit/>
          </a:bodyPr>
          <a:lstStyle/>
          <a:p>
            <a:pPr>
              <a:spcAft>
                <a:spcPts val="800"/>
              </a:spcAft>
            </a:pPr>
            <a:r>
              <a:rPr sz="1500" b="0">
                <a:solidFill>
                  <a:srgbClr val="0F2A28"/>
                </a:solidFill>
                <a:latin typeface="Calibri"/>
              </a:rPr>
              <a:t>• 67 / 67 pruebas unitarias exitosas (emergencyService, emergencyController).</a:t>
            </a:r>
          </a:p>
          <a:p>
            <a:pPr>
              <a:spcAft>
                <a:spcPts val="800"/>
              </a:spcAft>
            </a:pPr>
            <a:r>
              <a:rPr sz="1500" b="0">
                <a:solidFill>
                  <a:srgbClr val="0F2A28"/>
                </a:solidFill>
                <a:latin typeface="Calibri"/>
              </a:rPr>
              <a:t>• 19 / 19 pruebas de integración/E2E exitosas, incluyendo brote respiratorio masivo y acceso público no autenticado a endpoints específicos.</a:t>
            </a:r>
          </a:p>
        </p:txBody>
      </p:sp>
      <p:sp>
        <p:nvSpPr>
          <p:cNvPr id="9" name="TextBox 8"/>
          <p:cNvSpPr txBox="1"/>
          <p:nvPr/>
        </p:nvSpPr>
        <p:spPr>
          <a:xfrm>
            <a:off x="822960" y="3744710"/>
            <a:ext cx="10332720" cy="350000"/>
          </a:xfrm>
          <a:prstGeom prst="rect">
            <a:avLst/>
          </a:prstGeom>
          <a:noFill/>
        </p:spPr>
        <p:txBody>
          <a:bodyPr wrap="square" anchor="t" lIns="0" rIns="0" tIns="0" bIns="0">
            <a:spAutoFit/>
          </a:bodyPr>
          <a:lstStyle/>
          <a:p>
            <a:pPr algn="l"/>
            <a:r>
              <a:rPr sz="1600" b="0">
                <a:solidFill>
                  <a:srgbClr val="B02A2A"/>
                </a:solidFill>
                <a:latin typeface="Calibri"/>
              </a:rPr>
              <a:t>• Defecto encontrado (prueba funcional de interfaz)</a:t>
            </a:r>
          </a:p>
        </p:txBody>
      </p:sp>
      <p:sp>
        <p:nvSpPr>
          <p:cNvPr id="10" name="TextBox 9"/>
          <p:cNvSpPr txBox="1"/>
          <p:nvPr/>
        </p:nvSpPr>
        <p:spPr>
          <a:xfrm>
            <a:off x="1005840" y="4124710"/>
            <a:ext cx="10058400" cy="1007110"/>
          </a:xfrm>
          <a:prstGeom prst="rect">
            <a:avLst/>
          </a:prstGeom>
          <a:noFill/>
        </p:spPr>
        <p:txBody>
          <a:bodyPr wrap="square" anchor="t" lIns="0" rIns="0" tIns="0" bIns="0">
            <a:spAutoFit/>
          </a:bodyPr>
          <a:lstStyle/>
          <a:p>
            <a:pPr algn="l"/>
            <a:r>
              <a:rPr sz="1300" b="0">
                <a:solidFill>
                  <a:srgbClr val="0F2A28"/>
                </a:solidFill>
                <a:latin typeface="Calibri"/>
              </a:rPr>
              <a:t>EmergencyPage.js consume GET /api/v1/emergencies para listar emergencias activas, pero emergencyRoutes.ts no expone esa ruta de listado paginado (404). Las emergencias se crean correctamente en el backend, pero el panel del médico no puede mostrarlas en producción. Severidad media-alta; se recomienda priorizar la implementación del endpoint faltante.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CP-004 — Evidencia de Ejecución</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8</a:t>
            </a:r>
          </a:p>
        </p:txBody>
      </p:sp>
      <p:pic>
        <p:nvPicPr>
          <p:cNvPr id="7" name="Picture 6" descr="image7.png"/>
          <p:cNvPicPr>
            <a:picLocks noChangeAspect="1"/>
          </p:cNvPicPr>
          <p:nvPr/>
        </p:nvPicPr>
        <p:blipFill>
          <a:blip r:embed="rId2"/>
          <a:stretch>
            <a:fillRect/>
          </a:stretch>
        </p:blipFill>
        <p:spPr>
          <a:xfrm>
            <a:off x="640080" y="2541993"/>
            <a:ext cx="3537178" cy="2096012"/>
          </a:xfrm>
          <a:prstGeom prst="rect">
            <a:avLst/>
          </a:prstGeom>
          <a:ln w="9525">
            <a:solidFill>
              <a:srgbClr val="DDDDDD"/>
            </a:solidFill>
          </a:ln>
        </p:spPr>
      </p:pic>
      <p:sp>
        <p:nvSpPr>
          <p:cNvPr id="8" name="TextBox 7"/>
          <p:cNvSpPr txBox="1"/>
          <p:nvPr/>
        </p:nvSpPr>
        <p:spPr>
          <a:xfrm>
            <a:off x="640080" y="5910000"/>
            <a:ext cx="3537178" cy="390000"/>
          </a:xfrm>
          <a:prstGeom prst="rect">
            <a:avLst/>
          </a:prstGeom>
          <a:noFill/>
        </p:spPr>
        <p:txBody>
          <a:bodyPr wrap="square" anchor="t" lIns="0" rIns="0" tIns="0" bIns="0">
            <a:spAutoFit/>
          </a:bodyPr>
          <a:lstStyle/>
          <a:p>
            <a:pPr algn="ctr"/>
            <a:r>
              <a:rPr sz="1000" b="0">
                <a:solidFill>
                  <a:srgbClr val="4A4A4A"/>
                </a:solidFill>
                <a:latin typeface="Calibri"/>
              </a:rPr>
              <a:t>Fig. 3.1 — Unitarias: 67/67 (emergencyService, emergencyController)</a:t>
            </a:r>
          </a:p>
        </p:txBody>
      </p:sp>
      <p:pic>
        <p:nvPicPr>
          <p:cNvPr id="9" name="Picture 8" descr="image8.png"/>
          <p:cNvPicPr>
            <a:picLocks noChangeAspect="1"/>
          </p:cNvPicPr>
          <p:nvPr/>
        </p:nvPicPr>
        <p:blipFill>
          <a:blip r:embed="rId3"/>
          <a:stretch>
            <a:fillRect/>
          </a:stretch>
        </p:blipFill>
        <p:spPr>
          <a:xfrm>
            <a:off x="4327258" y="2541993"/>
            <a:ext cx="3537178" cy="2096012"/>
          </a:xfrm>
          <a:prstGeom prst="rect">
            <a:avLst/>
          </a:prstGeom>
          <a:ln w="9525">
            <a:solidFill>
              <a:srgbClr val="DDDDDD"/>
            </a:solidFill>
          </a:ln>
        </p:spPr>
      </p:pic>
      <p:sp>
        <p:nvSpPr>
          <p:cNvPr id="10" name="TextBox 9"/>
          <p:cNvSpPr txBox="1"/>
          <p:nvPr/>
        </p:nvSpPr>
        <p:spPr>
          <a:xfrm>
            <a:off x="4327258" y="5910000"/>
            <a:ext cx="3537178" cy="390000"/>
          </a:xfrm>
          <a:prstGeom prst="rect">
            <a:avLst/>
          </a:prstGeom>
          <a:noFill/>
        </p:spPr>
        <p:txBody>
          <a:bodyPr wrap="square" anchor="t" lIns="0" rIns="0" tIns="0" bIns="0">
            <a:spAutoFit/>
          </a:bodyPr>
          <a:lstStyle/>
          <a:p>
            <a:pPr algn="ctr"/>
            <a:r>
              <a:rPr sz="1000" b="0">
                <a:solidFill>
                  <a:srgbClr val="4A4A4A"/>
                </a:solidFill>
                <a:latin typeface="Calibri"/>
              </a:rPr>
              <a:t>Fig. 3.2 — Integración/E2E: 19/19</a:t>
            </a:r>
          </a:p>
        </p:txBody>
      </p:sp>
      <p:pic>
        <p:nvPicPr>
          <p:cNvPr id="11" name="Picture 10" descr="image9.png"/>
          <p:cNvPicPr>
            <a:picLocks noChangeAspect="1"/>
          </p:cNvPicPr>
          <p:nvPr/>
        </p:nvPicPr>
        <p:blipFill>
          <a:blip r:embed="rId4"/>
          <a:stretch>
            <a:fillRect/>
          </a:stretch>
        </p:blipFill>
        <p:spPr>
          <a:xfrm>
            <a:off x="8014436" y="2595168"/>
            <a:ext cx="3537178" cy="1989662"/>
          </a:xfrm>
          <a:prstGeom prst="rect">
            <a:avLst/>
          </a:prstGeom>
          <a:ln w="9525">
            <a:solidFill>
              <a:srgbClr val="DDDDDD"/>
            </a:solidFill>
          </a:ln>
        </p:spPr>
      </p:pic>
      <p:sp>
        <p:nvSpPr>
          <p:cNvPr id="12" name="TextBox 11"/>
          <p:cNvSpPr txBox="1"/>
          <p:nvPr/>
        </p:nvSpPr>
        <p:spPr>
          <a:xfrm>
            <a:off x="8014436" y="5910000"/>
            <a:ext cx="3537178" cy="390000"/>
          </a:xfrm>
          <a:prstGeom prst="rect">
            <a:avLst/>
          </a:prstGeom>
          <a:noFill/>
        </p:spPr>
        <p:txBody>
          <a:bodyPr wrap="square" anchor="t" lIns="0" rIns="0" tIns="0" bIns="0">
            <a:spAutoFit/>
          </a:bodyPr>
          <a:lstStyle/>
          <a:p>
            <a:pPr algn="ctr"/>
            <a:r>
              <a:rPr sz="1000" b="0">
                <a:solidFill>
                  <a:srgbClr val="4A4A4A"/>
                </a:solidFill>
                <a:latin typeface="Calibri"/>
              </a:rPr>
              <a:t>Fig. 3.3 — Defecto real: GET /api/v1/emergencies no existe (404)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CP-007 — Panel del Doctor: Revisión y Firma de Predicción de IA</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9</a:t>
            </a:r>
          </a:p>
        </p:txBody>
      </p:sp>
      <p:sp>
        <p:nvSpPr>
          <p:cNvPr id="7" name="TextBox 6"/>
          <p:cNvSpPr txBox="1"/>
          <p:nvPr/>
        </p:nvSpPr>
        <p:spPr>
          <a:xfrm>
            <a:off x="822960" y="1463040"/>
            <a:ext cx="10332720" cy="798830"/>
          </a:xfrm>
          <a:prstGeom prst="rect">
            <a:avLst/>
          </a:prstGeom>
          <a:noFill/>
        </p:spPr>
        <p:txBody>
          <a:bodyPr wrap="square" anchor="t" lIns="0" rIns="0" tIns="0" bIns="0">
            <a:spAutoFit/>
          </a:bodyPr>
          <a:lstStyle/>
          <a:p>
            <a:pPr>
              <a:spcAft>
                <a:spcPts val="800"/>
              </a:spcAft>
            </a:pPr>
            <a:r>
              <a:rPr sz="1500" b="0">
                <a:solidFill>
                  <a:srgbClr val="0F2A28"/>
                </a:solidFill>
                <a:latin typeface="Calibri"/>
              </a:rPr>
              <a:t>• Alcance: flujo de supervisión humana (human-in-the-loop) sobre predicciones de IA — listado de análisis pendientes, consulta de detalle y aprobación/ajuste/rechazo con firma electrónica obligatoria.</a:t>
            </a:r>
          </a:p>
        </p:txBody>
      </p:sp>
      <p:sp>
        <p:nvSpPr>
          <p:cNvPr id="8" name="TextBox 7"/>
          <p:cNvSpPr txBox="1"/>
          <p:nvPr/>
        </p:nvSpPr>
        <p:spPr>
          <a:xfrm>
            <a:off x="822960" y="2411870"/>
            <a:ext cx="10332720" cy="2962910"/>
          </a:xfrm>
          <a:prstGeom prst="rect">
            <a:avLst/>
          </a:prstGeom>
          <a:noFill/>
        </p:spPr>
        <p:txBody>
          <a:bodyPr wrap="square" anchor="t" lIns="0" rIns="0" tIns="0" bIns="0">
            <a:spAutoFit/>
          </a:bodyPr>
          <a:lstStyle/>
          <a:p>
            <a:pPr>
              <a:spcAft>
                <a:spcPts val="800"/>
              </a:spcAft>
            </a:pPr>
            <a:r>
              <a:rPr sz="1500" b="0">
                <a:solidFill>
                  <a:srgbClr val="339933"/>
                </a:solidFill>
                <a:latin typeface="Calibri"/>
              </a:rPr>
              <a:t>• 13 / 13 pruebas unitarias exitosas, sin fallos ni excepciones no controladas.</a:t>
            </a:r>
          </a:p>
          <a:p>
            <a:pPr>
              <a:spcAft>
                <a:spcPts val="800"/>
              </a:spcAft>
            </a:pPr>
            <a:r>
              <a:rPr sz="1500" b="0">
                <a:solidFill>
                  <a:srgbClr val="339933"/>
                </a:solidFill>
                <a:latin typeface="Calibri"/>
              </a:rPr>
              <a:t>• 11 / 11 pruebas de integración exitosas: control de acceso por rol y propiedad, firma electrónica obligatoria y bloqueo de doble revisión, todo verificado.</a:t>
            </a:r>
          </a:p>
          <a:p>
            <a:pPr>
              <a:spcAft>
                <a:spcPts val="800"/>
              </a:spcAft>
            </a:pPr>
            <a:r>
              <a:rPr sz="1500" b="0">
                <a:solidFill>
                  <a:srgbClr val="339933"/>
                </a:solidFill>
                <a:latin typeface="Calibri"/>
              </a:rPr>
              <a:t>• Evidencia complementaria de interfaz: Panel de Monitoreo del médico, que despliega la misma historia clínica y tendencia de SpO2 evaluada por el motor de IA.</a:t>
            </a:r>
          </a:p>
          <a:p>
            <a:pPr>
              <a:spcAft>
                <a:spcPts val="800"/>
              </a:spcAft>
            </a:pPr>
            <a:r>
              <a:rPr sz="1500" b="0">
                <a:solidFill>
                  <a:srgbClr val="339933"/>
                </a:solidFill>
                <a:latin typeface="Calibri"/>
              </a:rPr>
              <a:t>• Observación de alcance (no es un defecto): el flujo de aprobar/ajustar/rechazar aún se consume solo vía API REST; no existe todavía una vista web dedicada.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CP-007 — Evidencia de Ejecución</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10</a:t>
            </a:r>
          </a:p>
        </p:txBody>
      </p:sp>
      <p:pic>
        <p:nvPicPr>
          <p:cNvPr id="7" name="Picture 6" descr="image10.png"/>
          <p:cNvPicPr>
            <a:picLocks noChangeAspect="1"/>
          </p:cNvPicPr>
          <p:nvPr/>
        </p:nvPicPr>
        <p:blipFill>
          <a:blip r:embed="rId2"/>
          <a:stretch>
            <a:fillRect/>
          </a:stretch>
        </p:blipFill>
        <p:spPr>
          <a:xfrm>
            <a:off x="1638669" y="1300000"/>
            <a:ext cx="3383588" cy="2005000"/>
          </a:xfrm>
          <a:prstGeom prst="rect">
            <a:avLst/>
          </a:prstGeom>
          <a:ln w="9525">
            <a:solidFill>
              <a:srgbClr val="DDDDDD"/>
            </a:solidFill>
          </a:ln>
        </p:spPr>
      </p:pic>
      <p:sp>
        <p:nvSpPr>
          <p:cNvPr id="8" name="TextBox 7"/>
          <p:cNvSpPr txBox="1"/>
          <p:nvPr/>
        </p:nvSpPr>
        <p:spPr>
          <a:xfrm>
            <a:off x="640080" y="3335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4.1 — Unitarias: 13/13</a:t>
            </a:r>
          </a:p>
        </p:txBody>
      </p:sp>
      <p:pic>
        <p:nvPicPr>
          <p:cNvPr id="9" name="Picture 8" descr="image11.png"/>
          <p:cNvPicPr>
            <a:picLocks noChangeAspect="1"/>
          </p:cNvPicPr>
          <p:nvPr/>
        </p:nvPicPr>
        <p:blipFill>
          <a:blip r:embed="rId3"/>
          <a:stretch>
            <a:fillRect/>
          </a:stretch>
        </p:blipFill>
        <p:spPr>
          <a:xfrm>
            <a:off x="7169436" y="1300000"/>
            <a:ext cx="3383588" cy="2005000"/>
          </a:xfrm>
          <a:prstGeom prst="rect">
            <a:avLst/>
          </a:prstGeom>
          <a:ln w="9525">
            <a:solidFill>
              <a:srgbClr val="DDDDDD"/>
            </a:solidFill>
          </a:ln>
        </p:spPr>
      </p:pic>
      <p:sp>
        <p:nvSpPr>
          <p:cNvPr id="10" name="TextBox 9"/>
          <p:cNvSpPr txBox="1"/>
          <p:nvPr/>
        </p:nvSpPr>
        <p:spPr>
          <a:xfrm>
            <a:off x="6170847" y="3335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4.2 — Integración: 11/11</a:t>
            </a:r>
          </a:p>
        </p:txBody>
      </p:sp>
      <p:pic>
        <p:nvPicPr>
          <p:cNvPr id="11" name="Picture 10" descr="image12.png"/>
          <p:cNvPicPr>
            <a:picLocks noChangeAspect="1"/>
          </p:cNvPicPr>
          <p:nvPr/>
        </p:nvPicPr>
        <p:blipFill>
          <a:blip r:embed="rId4"/>
          <a:stretch>
            <a:fillRect/>
          </a:stretch>
        </p:blipFill>
        <p:spPr>
          <a:xfrm>
            <a:off x="1769393" y="3875000"/>
            <a:ext cx="3122141" cy="2005000"/>
          </a:xfrm>
          <a:prstGeom prst="rect">
            <a:avLst/>
          </a:prstGeom>
          <a:ln w="9525">
            <a:solidFill>
              <a:srgbClr val="DDDDDD"/>
            </a:solidFill>
          </a:ln>
        </p:spPr>
      </p:pic>
      <p:sp>
        <p:nvSpPr>
          <p:cNvPr id="12" name="TextBox 11"/>
          <p:cNvSpPr txBox="1"/>
          <p:nvPr/>
        </p:nvSpPr>
        <p:spPr>
          <a:xfrm>
            <a:off x="640080" y="5910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4.3 — Panel de Monitoreo: paciente con riesgo alto y tendencia de SpO2</a:t>
            </a:r>
          </a:p>
        </p:txBody>
      </p:sp>
      <p:pic>
        <p:nvPicPr>
          <p:cNvPr id="13" name="Picture 12" descr="image13.png"/>
          <p:cNvPicPr>
            <a:picLocks noChangeAspect="1"/>
          </p:cNvPicPr>
          <p:nvPr/>
        </p:nvPicPr>
        <p:blipFill>
          <a:blip r:embed="rId5"/>
          <a:stretch>
            <a:fillRect/>
          </a:stretch>
        </p:blipFill>
        <p:spPr>
          <a:xfrm>
            <a:off x="7079009" y="3875000"/>
            <a:ext cx="3564444" cy="2005000"/>
          </a:xfrm>
          <a:prstGeom prst="rect">
            <a:avLst/>
          </a:prstGeom>
          <a:ln w="9525">
            <a:solidFill>
              <a:srgbClr val="DDDDDD"/>
            </a:solidFill>
          </a:ln>
        </p:spPr>
      </p:pic>
      <p:sp>
        <p:nvSpPr>
          <p:cNvPr id="14" name="TextBox 13"/>
          <p:cNvSpPr txBox="1"/>
          <p:nvPr/>
        </p:nvSpPr>
        <p:spPr>
          <a:xfrm>
            <a:off x="6170847" y="5910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4.4 — Detalle clínico consistente con el análisis de IA revisado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CP-009 — Sistema de Alertas y Notificaciones</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11</a:t>
            </a:r>
          </a:p>
        </p:txBody>
      </p:sp>
      <p:sp>
        <p:nvSpPr>
          <p:cNvPr id="7" name="TextBox 6"/>
          <p:cNvSpPr txBox="1"/>
          <p:nvPr/>
        </p:nvSpPr>
        <p:spPr>
          <a:xfrm>
            <a:off x="822960" y="1463040"/>
            <a:ext cx="10332720" cy="798830"/>
          </a:xfrm>
          <a:prstGeom prst="rect">
            <a:avLst/>
          </a:prstGeom>
          <a:noFill/>
        </p:spPr>
        <p:txBody>
          <a:bodyPr wrap="square" anchor="t" lIns="0" rIns="0" tIns="0" bIns="0">
            <a:spAutoFit/>
          </a:bodyPr>
          <a:lstStyle/>
          <a:p>
            <a:pPr>
              <a:spcAft>
                <a:spcPts val="800"/>
              </a:spcAft>
            </a:pPr>
            <a:r>
              <a:rPr sz="1500" b="0">
                <a:solidFill>
                  <a:srgbClr val="0F2A28"/>
                </a:solidFill>
                <a:latin typeface="Calibri"/>
              </a:rPr>
              <a:t>• Alcance: AlertService — alertas críticas por síntomas, recordatorios de medicación, alertas de seguimiento, notificación al médico, confirmación (acknowledge) y resumen del panel de monitoreo administrativo.</a:t>
            </a:r>
          </a:p>
        </p:txBody>
      </p:sp>
      <p:sp>
        <p:nvSpPr>
          <p:cNvPr id="8" name="TextBox 7"/>
          <p:cNvSpPr txBox="1"/>
          <p:nvPr/>
        </p:nvSpPr>
        <p:spPr>
          <a:xfrm>
            <a:off x="822960" y="2411870"/>
            <a:ext cx="10332720" cy="1699260"/>
          </a:xfrm>
          <a:prstGeom prst="rect">
            <a:avLst/>
          </a:prstGeom>
          <a:noFill/>
        </p:spPr>
        <p:txBody>
          <a:bodyPr wrap="square" anchor="t" lIns="0" rIns="0" tIns="0" bIns="0">
            <a:spAutoFit/>
          </a:bodyPr>
          <a:lstStyle/>
          <a:p>
            <a:pPr>
              <a:spcAft>
                <a:spcPts val="800"/>
              </a:spcAft>
            </a:pPr>
            <a:r>
              <a:rPr sz="1500" b="0">
                <a:solidFill>
                  <a:srgbClr val="0F2A28"/>
                </a:solidFill>
                <a:latin typeface="Calibri"/>
              </a:rPr>
              <a:t>• 9 / 9 pruebas unitarias exitosas, cubriendo toda la lógica de negocio del servicio.</a:t>
            </a:r>
          </a:p>
          <a:p>
            <a:pPr>
              <a:spcAft>
                <a:spcPts val="800"/>
              </a:spcAft>
            </a:pPr>
            <a:r>
              <a:rPr sz="1500" b="0">
                <a:solidFill>
                  <a:srgbClr val="0F2A28"/>
                </a:solidFill>
                <a:latin typeface="Calibri"/>
              </a:rPr>
              <a:t>• 5 / 5 pruebas E2E reportadas como exitosas en la suite automatizada.</a:t>
            </a:r>
          </a:p>
          <a:p>
            <a:pPr>
              <a:spcAft>
                <a:spcPts val="800"/>
              </a:spcAft>
            </a:pPr>
            <a:r>
              <a:rPr sz="1500" b="0">
                <a:solidFill>
                  <a:srgbClr val="0F2A28"/>
                </a:solidFill>
                <a:latin typeface="Calibri"/>
              </a:rPr>
              <a:t>• La prueba funcional de interfaz (token JWT real) confirmó que la Consola de Alertas consume correctamente los endpoints reales y que el control de acceso por rol funciona.</a:t>
            </a:r>
          </a:p>
        </p:txBody>
      </p:sp>
      <p:sp>
        <p:nvSpPr>
          <p:cNvPr id="9" name="TextBox 8"/>
          <p:cNvSpPr txBox="1"/>
          <p:nvPr/>
        </p:nvSpPr>
        <p:spPr>
          <a:xfrm>
            <a:off x="822960" y="4311130"/>
            <a:ext cx="10332720" cy="350000"/>
          </a:xfrm>
          <a:prstGeom prst="rect">
            <a:avLst/>
          </a:prstGeom>
          <a:noFill/>
        </p:spPr>
        <p:txBody>
          <a:bodyPr wrap="square" anchor="t" lIns="0" rIns="0" tIns="0" bIns="0">
            <a:spAutoFit/>
          </a:bodyPr>
          <a:lstStyle/>
          <a:p>
            <a:pPr algn="l"/>
            <a:r>
              <a:rPr sz="1600" b="0">
                <a:solidFill>
                  <a:srgbClr val="B02A2A"/>
                </a:solidFill>
                <a:latin typeface="Calibri"/>
              </a:rPr>
              <a:t>• Discrepancia genuina encontrada (inspección de código)</a:t>
            </a:r>
          </a:p>
        </p:txBody>
      </p:sp>
      <p:sp>
        <p:nvSpPr>
          <p:cNvPr id="10" name="TextBox 9"/>
          <p:cNvSpPr txBox="1"/>
          <p:nvPr/>
        </p:nvSpPr>
        <p:spPr>
          <a:xfrm>
            <a:off x="1005840" y="4691130"/>
            <a:ext cx="10058400" cy="1208532"/>
          </a:xfrm>
          <a:prstGeom prst="rect">
            <a:avLst/>
          </a:prstGeom>
          <a:noFill/>
        </p:spPr>
        <p:txBody>
          <a:bodyPr wrap="square" anchor="t" lIns="0" rIns="0" tIns="0" bIns="0">
            <a:spAutoFit/>
          </a:bodyPr>
          <a:lstStyle/>
          <a:p>
            <a:pPr algn="l"/>
            <a:r>
              <a:rPr sz="1300" b="0">
                <a:solidFill>
                  <a:srgbClr val="0F2A28"/>
                </a:solidFill>
                <a:latin typeface="Calibri"/>
              </a:rPr>
              <a:t>Las 5 pruebas E2E "pasan" por aserciones deliberadamente tolerantes con HTTP 404 (expect([200,201,400,404,500])). Los endpoints genéricos de la especificación formal de CP-009 (POST /api/v1/alerts, GET /api/v1/alerts/stats, PUT /api/v1/alerts/:id/acknowledge, PUT /api/v1/alerts/:id/resolve) no existen en la implementación real, que expone en su lugar endpoints específicos por propósito. Observación de UX adicional: el botón "Ver Monitoreo" no se oculta ni deshabilita para roles distintos de admin.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CP-009 — Evidencia de Ejecución</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12</a:t>
            </a:r>
          </a:p>
        </p:txBody>
      </p:sp>
      <p:pic>
        <p:nvPicPr>
          <p:cNvPr id="7" name="Picture 6" descr="image14.png"/>
          <p:cNvPicPr>
            <a:picLocks noChangeAspect="1"/>
          </p:cNvPicPr>
          <p:nvPr/>
        </p:nvPicPr>
        <p:blipFill>
          <a:blip r:embed="rId2"/>
          <a:stretch>
            <a:fillRect/>
          </a:stretch>
        </p:blipFill>
        <p:spPr>
          <a:xfrm>
            <a:off x="1638669" y="1300000"/>
            <a:ext cx="3383588" cy="2005000"/>
          </a:xfrm>
          <a:prstGeom prst="rect">
            <a:avLst/>
          </a:prstGeom>
          <a:ln w="9525">
            <a:solidFill>
              <a:srgbClr val="DDDDDD"/>
            </a:solidFill>
          </a:ln>
        </p:spPr>
      </p:pic>
      <p:sp>
        <p:nvSpPr>
          <p:cNvPr id="8" name="TextBox 7"/>
          <p:cNvSpPr txBox="1"/>
          <p:nvPr/>
        </p:nvSpPr>
        <p:spPr>
          <a:xfrm>
            <a:off x="640080" y="3335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5.1 — Unitarias: 9/9</a:t>
            </a:r>
          </a:p>
        </p:txBody>
      </p:sp>
      <p:pic>
        <p:nvPicPr>
          <p:cNvPr id="9" name="Picture 8" descr="image15.png"/>
          <p:cNvPicPr>
            <a:picLocks noChangeAspect="1"/>
          </p:cNvPicPr>
          <p:nvPr/>
        </p:nvPicPr>
        <p:blipFill>
          <a:blip r:embed="rId3"/>
          <a:stretch>
            <a:fillRect/>
          </a:stretch>
        </p:blipFill>
        <p:spPr>
          <a:xfrm>
            <a:off x="7169436" y="1300000"/>
            <a:ext cx="3383588" cy="2005000"/>
          </a:xfrm>
          <a:prstGeom prst="rect">
            <a:avLst/>
          </a:prstGeom>
          <a:ln w="9525">
            <a:solidFill>
              <a:srgbClr val="DDDDDD"/>
            </a:solidFill>
          </a:ln>
        </p:spPr>
      </p:pic>
      <p:sp>
        <p:nvSpPr>
          <p:cNvPr id="10" name="TextBox 9"/>
          <p:cNvSpPr txBox="1"/>
          <p:nvPr/>
        </p:nvSpPr>
        <p:spPr>
          <a:xfrm>
            <a:off x="6170847" y="3335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5.2 — E2E: 5/5 (endpoint POST /alerts inexistente en la implementación)</a:t>
            </a:r>
          </a:p>
        </p:txBody>
      </p:sp>
      <p:pic>
        <p:nvPicPr>
          <p:cNvPr id="11" name="Picture 10" descr="image17.png"/>
          <p:cNvPicPr>
            <a:picLocks noChangeAspect="1"/>
          </p:cNvPicPr>
          <p:nvPr/>
        </p:nvPicPr>
        <p:blipFill>
          <a:blip r:embed="rId4"/>
          <a:stretch>
            <a:fillRect/>
          </a:stretch>
        </p:blipFill>
        <p:spPr>
          <a:xfrm>
            <a:off x="1548241" y="3875000"/>
            <a:ext cx="3564444" cy="2005000"/>
          </a:xfrm>
          <a:prstGeom prst="rect">
            <a:avLst/>
          </a:prstGeom>
          <a:ln w="9525">
            <a:solidFill>
              <a:srgbClr val="DDDDDD"/>
            </a:solidFill>
          </a:ln>
        </p:spPr>
      </p:pic>
      <p:sp>
        <p:nvSpPr>
          <p:cNvPr id="12" name="TextBox 11"/>
          <p:cNvSpPr txBox="1"/>
          <p:nvPr/>
        </p:nvSpPr>
        <p:spPr>
          <a:xfrm>
            <a:off x="640080" y="5910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5.4 — Consulta real exitosa de GET /api/v1/alerts</a:t>
            </a:r>
          </a:p>
        </p:txBody>
      </p:sp>
      <p:pic>
        <p:nvPicPr>
          <p:cNvPr id="13" name="Picture 12" descr="image18.png"/>
          <p:cNvPicPr>
            <a:picLocks noChangeAspect="1"/>
          </p:cNvPicPr>
          <p:nvPr/>
        </p:nvPicPr>
        <p:blipFill>
          <a:blip r:embed="rId5"/>
          <a:stretch>
            <a:fillRect/>
          </a:stretch>
        </p:blipFill>
        <p:spPr>
          <a:xfrm>
            <a:off x="7079009" y="3875000"/>
            <a:ext cx="3564444" cy="2005000"/>
          </a:xfrm>
          <a:prstGeom prst="rect">
            <a:avLst/>
          </a:prstGeom>
          <a:ln w="9525">
            <a:solidFill>
              <a:srgbClr val="DDDDDD"/>
            </a:solidFill>
          </a:ln>
        </p:spPr>
      </p:pic>
      <p:sp>
        <p:nvSpPr>
          <p:cNvPr id="14" name="TextBox 13"/>
          <p:cNvSpPr txBox="1"/>
          <p:nvPr/>
        </p:nvSpPr>
        <p:spPr>
          <a:xfrm>
            <a:off x="6170847" y="5910000"/>
            <a:ext cx="5380767" cy="390000"/>
          </a:xfrm>
          <a:prstGeom prst="rect">
            <a:avLst/>
          </a:prstGeom>
          <a:noFill/>
        </p:spPr>
        <p:txBody>
          <a:bodyPr wrap="square" anchor="t" lIns="0" rIns="0" tIns="0" bIns="0">
            <a:spAutoFit/>
          </a:bodyPr>
          <a:lstStyle/>
          <a:p>
            <a:pPr algn="ctr"/>
            <a:r>
              <a:rPr sz="1000" b="0">
                <a:solidFill>
                  <a:srgbClr val="4A4A4A"/>
                </a:solidFill>
                <a:latin typeface="Calibri"/>
              </a:rPr>
              <a:t>Fig. 5.5 — Observación de UX: botón "Ver Monitoreo" sin distinción de 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Resultados Generales Consolidados</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13</a:t>
            </a:r>
          </a:p>
        </p:txBody>
      </p:sp>
      <p:sp>
        <p:nvSpPr>
          <p:cNvPr id="7" name="TextBox 6"/>
          <p:cNvSpPr txBox="1"/>
          <p:nvPr/>
        </p:nvSpPr>
        <p:spPr>
          <a:xfrm>
            <a:off x="502920" y="1170432"/>
            <a:ext cx="10972800" cy="457200"/>
          </a:xfrm>
          <a:prstGeom prst="rect">
            <a:avLst/>
          </a:prstGeom>
          <a:noFill/>
        </p:spPr>
        <p:txBody>
          <a:bodyPr wrap="square" anchor="t" lIns="0" rIns="0" tIns="0" bIns="0">
            <a:spAutoFit/>
          </a:bodyPr>
          <a:lstStyle/>
          <a:p>
            <a:pPr algn="l"/>
            <a:r>
              <a:rPr sz="1400" b="0">
                <a:solidFill>
                  <a:srgbClr val="4A4A4A"/>
                </a:solidFill>
                <a:latin typeface="Calibri"/>
              </a:rPr>
              <a:t>228 pruebas automatizadas exitosas · 8/9 pasos funcionales · 2 defectos reales</a:t>
            </a:r>
          </a:p>
        </p:txBody>
      </p:sp>
      <p:sp>
        <p:nvSpPr>
          <p:cNvPr id="8" name="Rectangle 7"/>
          <p:cNvSpPr/>
          <p:nvPr/>
        </p:nvSpPr>
        <p:spPr>
          <a:xfrm>
            <a:off x="822960" y="1554480"/>
            <a:ext cx="10424160" cy="56000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1617120" cy="560000"/>
          </a:xfrm>
          <a:prstGeom prst="rect">
            <a:avLst/>
          </a:prstGeom>
          <a:noFill/>
        </p:spPr>
        <p:txBody>
          <a:bodyPr wrap="square" anchor="ctr" lIns="0" rIns="0" tIns="0" bIns="0">
            <a:spAutoFit/>
          </a:bodyPr>
          <a:lstStyle/>
          <a:p>
            <a:pPr algn="l"/>
            <a:r>
              <a:rPr sz="1300" b="1">
                <a:solidFill>
                  <a:srgbClr val="FFFFFF"/>
                </a:solidFill>
                <a:latin typeface="Calibri"/>
              </a:rPr>
              <a:t>Caso</a:t>
            </a:r>
          </a:p>
        </p:txBody>
      </p:sp>
      <p:sp>
        <p:nvSpPr>
          <p:cNvPr id="10" name="TextBox 9"/>
          <p:cNvSpPr txBox="1"/>
          <p:nvPr/>
        </p:nvSpPr>
        <p:spPr>
          <a:xfrm>
            <a:off x="2714400" y="1554480"/>
            <a:ext cx="2017120" cy="560000"/>
          </a:xfrm>
          <a:prstGeom prst="rect">
            <a:avLst/>
          </a:prstGeom>
          <a:noFill/>
        </p:spPr>
        <p:txBody>
          <a:bodyPr wrap="square" anchor="ctr" lIns="0" rIns="0" tIns="0" bIns="0">
            <a:spAutoFit/>
          </a:bodyPr>
          <a:lstStyle/>
          <a:p>
            <a:pPr algn="l"/>
            <a:r>
              <a:rPr sz="1300" b="1">
                <a:solidFill>
                  <a:srgbClr val="FFFFFF"/>
                </a:solidFill>
                <a:latin typeface="Calibri"/>
              </a:rPr>
              <a:t>Unitarias</a:t>
            </a:r>
          </a:p>
        </p:txBody>
      </p:sp>
      <p:sp>
        <p:nvSpPr>
          <p:cNvPr id="11" name="TextBox 10"/>
          <p:cNvSpPr txBox="1"/>
          <p:nvPr/>
        </p:nvSpPr>
        <p:spPr>
          <a:xfrm>
            <a:off x="4914400" y="1554480"/>
            <a:ext cx="2517120" cy="560000"/>
          </a:xfrm>
          <a:prstGeom prst="rect">
            <a:avLst/>
          </a:prstGeom>
          <a:noFill/>
        </p:spPr>
        <p:txBody>
          <a:bodyPr wrap="square" anchor="ctr" lIns="0" rIns="0" tIns="0" bIns="0">
            <a:spAutoFit/>
          </a:bodyPr>
          <a:lstStyle/>
          <a:p>
            <a:pPr algn="l"/>
            <a:r>
              <a:rPr sz="1300" b="1">
                <a:solidFill>
                  <a:srgbClr val="FFFFFF"/>
                </a:solidFill>
                <a:latin typeface="Calibri"/>
              </a:rPr>
              <a:t>Integración / E2E</a:t>
            </a:r>
          </a:p>
        </p:txBody>
      </p:sp>
      <p:sp>
        <p:nvSpPr>
          <p:cNvPr id="12" name="TextBox 11"/>
          <p:cNvSpPr txBox="1"/>
          <p:nvPr/>
        </p:nvSpPr>
        <p:spPr>
          <a:xfrm>
            <a:off x="7614400" y="1554480"/>
            <a:ext cx="2017120" cy="560000"/>
          </a:xfrm>
          <a:prstGeom prst="rect">
            <a:avLst/>
          </a:prstGeom>
          <a:noFill/>
        </p:spPr>
        <p:txBody>
          <a:bodyPr wrap="square" anchor="ctr" lIns="0" rIns="0" tIns="0" bIns="0">
            <a:spAutoFit/>
          </a:bodyPr>
          <a:lstStyle/>
          <a:p>
            <a:pPr algn="l"/>
            <a:r>
              <a:rPr sz="1300" b="1">
                <a:solidFill>
                  <a:srgbClr val="FFFFFF"/>
                </a:solidFill>
                <a:latin typeface="Calibri"/>
              </a:rPr>
              <a:t>Funcional (UI)</a:t>
            </a:r>
          </a:p>
        </p:txBody>
      </p:sp>
      <p:sp>
        <p:nvSpPr>
          <p:cNvPr id="13" name="TextBox 12"/>
          <p:cNvSpPr txBox="1"/>
          <p:nvPr/>
        </p:nvSpPr>
        <p:spPr>
          <a:xfrm>
            <a:off x="9814400" y="1554480"/>
            <a:ext cx="1341280" cy="560000"/>
          </a:xfrm>
          <a:prstGeom prst="rect">
            <a:avLst/>
          </a:prstGeom>
          <a:noFill/>
        </p:spPr>
        <p:txBody>
          <a:bodyPr wrap="square" anchor="ctr" lIns="0" rIns="0" tIns="0" bIns="0">
            <a:spAutoFit/>
          </a:bodyPr>
          <a:lstStyle/>
          <a:p>
            <a:pPr algn="l"/>
            <a:r>
              <a:rPr sz="1300" b="1">
                <a:solidFill>
                  <a:srgbClr val="FFFFFF"/>
                </a:solidFill>
                <a:latin typeface="Calibri"/>
              </a:rPr>
              <a:t>Defectos</a:t>
            </a:r>
          </a:p>
        </p:txBody>
      </p:sp>
      <p:sp>
        <p:nvSpPr>
          <p:cNvPr id="14" name="Rectangle 13"/>
          <p:cNvSpPr/>
          <p:nvPr/>
        </p:nvSpPr>
        <p:spPr>
          <a:xfrm>
            <a:off x="822960" y="2114480"/>
            <a:ext cx="10424160" cy="56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114480"/>
            <a:ext cx="1617120" cy="560000"/>
          </a:xfrm>
          <a:prstGeom prst="rect">
            <a:avLst/>
          </a:prstGeom>
          <a:noFill/>
        </p:spPr>
        <p:txBody>
          <a:bodyPr wrap="square" anchor="ctr" lIns="0" rIns="0" tIns="0" bIns="0">
            <a:spAutoFit/>
          </a:bodyPr>
          <a:lstStyle/>
          <a:p>
            <a:pPr algn="l"/>
            <a:r>
              <a:rPr sz="1300" b="1">
                <a:solidFill>
                  <a:srgbClr val="0F2A28"/>
                </a:solidFill>
                <a:latin typeface="Calibri"/>
              </a:rPr>
              <a:t>CP-001</a:t>
            </a:r>
          </a:p>
        </p:txBody>
      </p:sp>
      <p:sp>
        <p:nvSpPr>
          <p:cNvPr id="16" name="TextBox 15"/>
          <p:cNvSpPr txBox="1"/>
          <p:nvPr/>
        </p:nvSpPr>
        <p:spPr>
          <a:xfrm>
            <a:off x="2714400" y="2114480"/>
            <a:ext cx="2017120" cy="560000"/>
          </a:xfrm>
          <a:prstGeom prst="rect">
            <a:avLst/>
          </a:prstGeom>
          <a:noFill/>
        </p:spPr>
        <p:txBody>
          <a:bodyPr wrap="square" anchor="ctr" lIns="0" rIns="0" tIns="0" bIns="0">
            <a:spAutoFit/>
          </a:bodyPr>
          <a:lstStyle/>
          <a:p>
            <a:pPr algn="l"/>
            <a:r>
              <a:rPr sz="1300" b="0">
                <a:solidFill>
                  <a:srgbClr val="0F2A28"/>
                </a:solidFill>
                <a:latin typeface="Calibri"/>
              </a:rPr>
              <a:t>100 / 100</a:t>
            </a:r>
          </a:p>
        </p:txBody>
      </p:sp>
      <p:sp>
        <p:nvSpPr>
          <p:cNvPr id="17" name="TextBox 16"/>
          <p:cNvSpPr txBox="1"/>
          <p:nvPr/>
        </p:nvSpPr>
        <p:spPr>
          <a:xfrm>
            <a:off x="4914400" y="2114480"/>
            <a:ext cx="2517120" cy="560000"/>
          </a:xfrm>
          <a:prstGeom prst="rect">
            <a:avLst/>
          </a:prstGeom>
          <a:noFill/>
        </p:spPr>
        <p:txBody>
          <a:bodyPr wrap="square" anchor="ctr" lIns="0" rIns="0" tIns="0" bIns="0">
            <a:spAutoFit/>
          </a:bodyPr>
          <a:lstStyle/>
          <a:p>
            <a:pPr algn="l"/>
            <a:r>
              <a:rPr sz="1300" b="0">
                <a:solidFill>
                  <a:srgbClr val="0F2A28"/>
                </a:solidFill>
                <a:latin typeface="Calibri"/>
              </a:rPr>
              <a:t>4 / 4</a:t>
            </a:r>
          </a:p>
        </p:txBody>
      </p:sp>
      <p:sp>
        <p:nvSpPr>
          <p:cNvPr id="18" name="TextBox 17"/>
          <p:cNvSpPr txBox="1"/>
          <p:nvPr/>
        </p:nvSpPr>
        <p:spPr>
          <a:xfrm>
            <a:off x="7614400" y="2114480"/>
            <a:ext cx="2017120" cy="560000"/>
          </a:xfrm>
          <a:prstGeom prst="rect">
            <a:avLst/>
          </a:prstGeom>
          <a:noFill/>
        </p:spPr>
        <p:txBody>
          <a:bodyPr wrap="square" anchor="ctr" lIns="0" rIns="0" tIns="0" bIns="0">
            <a:spAutoFit/>
          </a:bodyPr>
          <a:lstStyle/>
          <a:p>
            <a:pPr algn="l"/>
            <a:r>
              <a:rPr sz="1300" b="0">
                <a:solidFill>
                  <a:srgbClr val="0F2A28"/>
                </a:solidFill>
                <a:latin typeface="Calibri"/>
              </a:rPr>
              <a:t>3 / 3</a:t>
            </a:r>
          </a:p>
        </p:txBody>
      </p:sp>
      <p:sp>
        <p:nvSpPr>
          <p:cNvPr id="19" name="TextBox 18"/>
          <p:cNvSpPr txBox="1"/>
          <p:nvPr/>
        </p:nvSpPr>
        <p:spPr>
          <a:xfrm>
            <a:off x="9814400" y="2114480"/>
            <a:ext cx="1341280" cy="560000"/>
          </a:xfrm>
          <a:prstGeom prst="rect">
            <a:avLst/>
          </a:prstGeom>
          <a:noFill/>
        </p:spPr>
        <p:txBody>
          <a:bodyPr wrap="square" anchor="ctr" lIns="0" rIns="0" tIns="0" bIns="0">
            <a:spAutoFit/>
          </a:bodyPr>
          <a:lstStyle/>
          <a:p>
            <a:pPr algn="l"/>
            <a:r>
              <a:rPr sz="1300" b="0">
                <a:solidFill>
                  <a:srgbClr val="0F2A28"/>
                </a:solidFill>
                <a:latin typeface="Calibri"/>
              </a:rPr>
              <a:t>Ninguno</a:t>
            </a:r>
          </a:p>
        </p:txBody>
      </p:sp>
      <p:sp>
        <p:nvSpPr>
          <p:cNvPr id="20" name="Rectangle 19"/>
          <p:cNvSpPr/>
          <p:nvPr/>
        </p:nvSpPr>
        <p:spPr>
          <a:xfrm>
            <a:off x="822960" y="2674480"/>
            <a:ext cx="10424160" cy="5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674480"/>
            <a:ext cx="1617120" cy="560000"/>
          </a:xfrm>
          <a:prstGeom prst="rect">
            <a:avLst/>
          </a:prstGeom>
          <a:noFill/>
        </p:spPr>
        <p:txBody>
          <a:bodyPr wrap="square" anchor="ctr" lIns="0" rIns="0" tIns="0" bIns="0">
            <a:spAutoFit/>
          </a:bodyPr>
          <a:lstStyle/>
          <a:p>
            <a:pPr algn="l"/>
            <a:r>
              <a:rPr sz="1300" b="1">
                <a:solidFill>
                  <a:srgbClr val="0F2A28"/>
                </a:solidFill>
                <a:latin typeface="Calibri"/>
              </a:rPr>
              <a:t>CP-004</a:t>
            </a:r>
          </a:p>
        </p:txBody>
      </p:sp>
      <p:sp>
        <p:nvSpPr>
          <p:cNvPr id="22" name="TextBox 21"/>
          <p:cNvSpPr txBox="1"/>
          <p:nvPr/>
        </p:nvSpPr>
        <p:spPr>
          <a:xfrm>
            <a:off x="2714400" y="2674480"/>
            <a:ext cx="2017120" cy="560000"/>
          </a:xfrm>
          <a:prstGeom prst="rect">
            <a:avLst/>
          </a:prstGeom>
          <a:noFill/>
        </p:spPr>
        <p:txBody>
          <a:bodyPr wrap="square" anchor="ctr" lIns="0" rIns="0" tIns="0" bIns="0">
            <a:spAutoFit/>
          </a:bodyPr>
          <a:lstStyle/>
          <a:p>
            <a:pPr algn="l"/>
            <a:r>
              <a:rPr sz="1300" b="0">
                <a:solidFill>
                  <a:srgbClr val="0F2A28"/>
                </a:solidFill>
                <a:latin typeface="Calibri"/>
              </a:rPr>
              <a:t>67 / 67</a:t>
            </a:r>
          </a:p>
        </p:txBody>
      </p:sp>
      <p:sp>
        <p:nvSpPr>
          <p:cNvPr id="23" name="TextBox 22"/>
          <p:cNvSpPr txBox="1"/>
          <p:nvPr/>
        </p:nvSpPr>
        <p:spPr>
          <a:xfrm>
            <a:off x="4914400" y="2674480"/>
            <a:ext cx="2517120" cy="560000"/>
          </a:xfrm>
          <a:prstGeom prst="rect">
            <a:avLst/>
          </a:prstGeom>
          <a:noFill/>
        </p:spPr>
        <p:txBody>
          <a:bodyPr wrap="square" anchor="ctr" lIns="0" rIns="0" tIns="0" bIns="0">
            <a:spAutoFit/>
          </a:bodyPr>
          <a:lstStyle/>
          <a:p>
            <a:pPr algn="l"/>
            <a:r>
              <a:rPr sz="1300" b="0">
                <a:solidFill>
                  <a:srgbClr val="0F2A28"/>
                </a:solidFill>
                <a:latin typeface="Calibri"/>
              </a:rPr>
              <a:t>19 / 19</a:t>
            </a:r>
          </a:p>
        </p:txBody>
      </p:sp>
      <p:sp>
        <p:nvSpPr>
          <p:cNvPr id="24" name="TextBox 23"/>
          <p:cNvSpPr txBox="1"/>
          <p:nvPr/>
        </p:nvSpPr>
        <p:spPr>
          <a:xfrm>
            <a:off x="7614400" y="2674480"/>
            <a:ext cx="2017120" cy="560000"/>
          </a:xfrm>
          <a:prstGeom prst="rect">
            <a:avLst/>
          </a:prstGeom>
          <a:noFill/>
        </p:spPr>
        <p:txBody>
          <a:bodyPr wrap="square" anchor="ctr" lIns="0" rIns="0" tIns="0" bIns="0">
            <a:spAutoFit/>
          </a:bodyPr>
          <a:lstStyle/>
          <a:p>
            <a:pPr algn="l"/>
            <a:r>
              <a:rPr sz="1300" b="0">
                <a:solidFill>
                  <a:srgbClr val="0F2A28"/>
                </a:solidFill>
                <a:latin typeface="Calibri"/>
              </a:rPr>
              <a:t>0 / 1</a:t>
            </a:r>
          </a:p>
        </p:txBody>
      </p:sp>
      <p:sp>
        <p:nvSpPr>
          <p:cNvPr id="25" name="TextBox 24"/>
          <p:cNvSpPr txBox="1"/>
          <p:nvPr/>
        </p:nvSpPr>
        <p:spPr>
          <a:xfrm>
            <a:off x="9814400" y="2674480"/>
            <a:ext cx="1341280" cy="560000"/>
          </a:xfrm>
          <a:prstGeom prst="rect">
            <a:avLst/>
          </a:prstGeom>
          <a:noFill/>
        </p:spPr>
        <p:txBody>
          <a:bodyPr wrap="square" anchor="ctr" lIns="0" rIns="0" tIns="0" bIns="0">
            <a:spAutoFit/>
          </a:bodyPr>
          <a:lstStyle/>
          <a:p>
            <a:pPr algn="l"/>
            <a:r>
              <a:rPr sz="1300" b="0">
                <a:solidFill>
                  <a:srgbClr val="0F2A28"/>
                </a:solidFill>
                <a:latin typeface="Calibri"/>
              </a:rPr>
              <a:t>1</a:t>
            </a:r>
          </a:p>
        </p:txBody>
      </p:sp>
      <p:sp>
        <p:nvSpPr>
          <p:cNvPr id="26" name="Rectangle 25"/>
          <p:cNvSpPr/>
          <p:nvPr/>
        </p:nvSpPr>
        <p:spPr>
          <a:xfrm>
            <a:off x="822960" y="3234480"/>
            <a:ext cx="10424160" cy="56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234480"/>
            <a:ext cx="1617120" cy="560000"/>
          </a:xfrm>
          <a:prstGeom prst="rect">
            <a:avLst/>
          </a:prstGeom>
          <a:noFill/>
        </p:spPr>
        <p:txBody>
          <a:bodyPr wrap="square" anchor="ctr" lIns="0" rIns="0" tIns="0" bIns="0">
            <a:spAutoFit/>
          </a:bodyPr>
          <a:lstStyle/>
          <a:p>
            <a:pPr algn="l"/>
            <a:r>
              <a:rPr sz="1300" b="1">
                <a:solidFill>
                  <a:srgbClr val="0F2A28"/>
                </a:solidFill>
                <a:latin typeface="Calibri"/>
              </a:rPr>
              <a:t>CP-007</a:t>
            </a:r>
          </a:p>
        </p:txBody>
      </p:sp>
      <p:sp>
        <p:nvSpPr>
          <p:cNvPr id="28" name="TextBox 27"/>
          <p:cNvSpPr txBox="1"/>
          <p:nvPr/>
        </p:nvSpPr>
        <p:spPr>
          <a:xfrm>
            <a:off x="2714400" y="3234480"/>
            <a:ext cx="2017120" cy="560000"/>
          </a:xfrm>
          <a:prstGeom prst="rect">
            <a:avLst/>
          </a:prstGeom>
          <a:noFill/>
        </p:spPr>
        <p:txBody>
          <a:bodyPr wrap="square" anchor="ctr" lIns="0" rIns="0" tIns="0" bIns="0">
            <a:spAutoFit/>
          </a:bodyPr>
          <a:lstStyle/>
          <a:p>
            <a:pPr algn="l"/>
            <a:r>
              <a:rPr sz="1300" b="0">
                <a:solidFill>
                  <a:srgbClr val="0F2A28"/>
                </a:solidFill>
                <a:latin typeface="Calibri"/>
              </a:rPr>
              <a:t>13 / 13</a:t>
            </a:r>
          </a:p>
        </p:txBody>
      </p:sp>
      <p:sp>
        <p:nvSpPr>
          <p:cNvPr id="29" name="TextBox 28"/>
          <p:cNvSpPr txBox="1"/>
          <p:nvPr/>
        </p:nvSpPr>
        <p:spPr>
          <a:xfrm>
            <a:off x="4914400" y="3234480"/>
            <a:ext cx="2517120" cy="560000"/>
          </a:xfrm>
          <a:prstGeom prst="rect">
            <a:avLst/>
          </a:prstGeom>
          <a:noFill/>
        </p:spPr>
        <p:txBody>
          <a:bodyPr wrap="square" anchor="ctr" lIns="0" rIns="0" tIns="0" bIns="0">
            <a:spAutoFit/>
          </a:bodyPr>
          <a:lstStyle/>
          <a:p>
            <a:pPr algn="l"/>
            <a:r>
              <a:rPr sz="1300" b="0">
                <a:solidFill>
                  <a:srgbClr val="0F2A28"/>
                </a:solidFill>
                <a:latin typeface="Calibri"/>
              </a:rPr>
              <a:t>11 / 11</a:t>
            </a:r>
          </a:p>
        </p:txBody>
      </p:sp>
      <p:sp>
        <p:nvSpPr>
          <p:cNvPr id="30" name="TextBox 29"/>
          <p:cNvSpPr txBox="1"/>
          <p:nvPr/>
        </p:nvSpPr>
        <p:spPr>
          <a:xfrm>
            <a:off x="7614400" y="3234480"/>
            <a:ext cx="2017120" cy="560000"/>
          </a:xfrm>
          <a:prstGeom prst="rect">
            <a:avLst/>
          </a:prstGeom>
          <a:noFill/>
        </p:spPr>
        <p:txBody>
          <a:bodyPr wrap="square" anchor="ctr" lIns="0" rIns="0" tIns="0" bIns="0">
            <a:spAutoFit/>
          </a:bodyPr>
          <a:lstStyle/>
          <a:p>
            <a:pPr algn="l"/>
            <a:r>
              <a:rPr sz="1300" b="0">
                <a:solidFill>
                  <a:srgbClr val="0F2A28"/>
                </a:solidFill>
                <a:latin typeface="Calibri"/>
              </a:rPr>
              <a:t>2 / 2</a:t>
            </a:r>
          </a:p>
        </p:txBody>
      </p:sp>
      <p:sp>
        <p:nvSpPr>
          <p:cNvPr id="31" name="TextBox 30"/>
          <p:cNvSpPr txBox="1"/>
          <p:nvPr/>
        </p:nvSpPr>
        <p:spPr>
          <a:xfrm>
            <a:off x="9814400" y="3234480"/>
            <a:ext cx="1341280" cy="560000"/>
          </a:xfrm>
          <a:prstGeom prst="rect">
            <a:avLst/>
          </a:prstGeom>
          <a:noFill/>
        </p:spPr>
        <p:txBody>
          <a:bodyPr wrap="square" anchor="ctr" lIns="0" rIns="0" tIns="0" bIns="0">
            <a:spAutoFit/>
          </a:bodyPr>
          <a:lstStyle/>
          <a:p>
            <a:pPr algn="l"/>
            <a:r>
              <a:rPr sz="1300" b="0">
                <a:solidFill>
                  <a:srgbClr val="0F2A28"/>
                </a:solidFill>
                <a:latin typeface="Calibri"/>
              </a:rPr>
              <a:t>Ninguno</a:t>
            </a:r>
          </a:p>
        </p:txBody>
      </p:sp>
      <p:sp>
        <p:nvSpPr>
          <p:cNvPr id="32" name="Rectangle 31"/>
          <p:cNvSpPr/>
          <p:nvPr/>
        </p:nvSpPr>
        <p:spPr>
          <a:xfrm>
            <a:off x="822960" y="3794480"/>
            <a:ext cx="10424160" cy="5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3794480"/>
            <a:ext cx="1617120" cy="560000"/>
          </a:xfrm>
          <a:prstGeom prst="rect">
            <a:avLst/>
          </a:prstGeom>
          <a:noFill/>
        </p:spPr>
        <p:txBody>
          <a:bodyPr wrap="square" anchor="ctr" lIns="0" rIns="0" tIns="0" bIns="0">
            <a:spAutoFit/>
          </a:bodyPr>
          <a:lstStyle/>
          <a:p>
            <a:pPr algn="l"/>
            <a:r>
              <a:rPr sz="1300" b="1">
                <a:solidFill>
                  <a:srgbClr val="0F2A28"/>
                </a:solidFill>
                <a:latin typeface="Calibri"/>
              </a:rPr>
              <a:t>CP-009</a:t>
            </a:r>
          </a:p>
        </p:txBody>
      </p:sp>
      <p:sp>
        <p:nvSpPr>
          <p:cNvPr id="34" name="TextBox 33"/>
          <p:cNvSpPr txBox="1"/>
          <p:nvPr/>
        </p:nvSpPr>
        <p:spPr>
          <a:xfrm>
            <a:off x="2714400" y="3794480"/>
            <a:ext cx="2017120" cy="560000"/>
          </a:xfrm>
          <a:prstGeom prst="rect">
            <a:avLst/>
          </a:prstGeom>
          <a:noFill/>
        </p:spPr>
        <p:txBody>
          <a:bodyPr wrap="square" anchor="ctr" lIns="0" rIns="0" tIns="0" bIns="0">
            <a:spAutoFit/>
          </a:bodyPr>
          <a:lstStyle/>
          <a:p>
            <a:pPr algn="l"/>
            <a:r>
              <a:rPr sz="1300" b="0">
                <a:solidFill>
                  <a:srgbClr val="0F2A28"/>
                </a:solidFill>
                <a:latin typeface="Calibri"/>
              </a:rPr>
              <a:t>9 / 9</a:t>
            </a:r>
          </a:p>
        </p:txBody>
      </p:sp>
      <p:sp>
        <p:nvSpPr>
          <p:cNvPr id="35" name="TextBox 34"/>
          <p:cNvSpPr txBox="1"/>
          <p:nvPr/>
        </p:nvSpPr>
        <p:spPr>
          <a:xfrm>
            <a:off x="4914400" y="3794480"/>
            <a:ext cx="2517120" cy="560000"/>
          </a:xfrm>
          <a:prstGeom prst="rect">
            <a:avLst/>
          </a:prstGeom>
          <a:noFill/>
        </p:spPr>
        <p:txBody>
          <a:bodyPr wrap="square" anchor="ctr" lIns="0" rIns="0" tIns="0" bIns="0">
            <a:spAutoFit/>
          </a:bodyPr>
          <a:lstStyle/>
          <a:p>
            <a:pPr algn="l"/>
            <a:r>
              <a:rPr sz="1300" b="0">
                <a:solidFill>
                  <a:srgbClr val="0F2A28"/>
                </a:solidFill>
                <a:latin typeface="Calibri"/>
              </a:rPr>
              <a:t>5 / 5</a:t>
            </a:r>
          </a:p>
        </p:txBody>
      </p:sp>
      <p:sp>
        <p:nvSpPr>
          <p:cNvPr id="36" name="TextBox 35"/>
          <p:cNvSpPr txBox="1"/>
          <p:nvPr/>
        </p:nvSpPr>
        <p:spPr>
          <a:xfrm>
            <a:off x="7614400" y="3794480"/>
            <a:ext cx="2017120" cy="560000"/>
          </a:xfrm>
          <a:prstGeom prst="rect">
            <a:avLst/>
          </a:prstGeom>
          <a:noFill/>
        </p:spPr>
        <p:txBody>
          <a:bodyPr wrap="square" anchor="ctr" lIns="0" rIns="0" tIns="0" bIns="0">
            <a:spAutoFit/>
          </a:bodyPr>
          <a:lstStyle/>
          <a:p>
            <a:pPr algn="l"/>
            <a:r>
              <a:rPr sz="1300" b="0">
                <a:solidFill>
                  <a:srgbClr val="0F2A28"/>
                </a:solidFill>
                <a:latin typeface="Calibri"/>
              </a:rPr>
              <a:t>3 / 3</a:t>
            </a:r>
          </a:p>
        </p:txBody>
      </p:sp>
      <p:sp>
        <p:nvSpPr>
          <p:cNvPr id="37" name="TextBox 36"/>
          <p:cNvSpPr txBox="1"/>
          <p:nvPr/>
        </p:nvSpPr>
        <p:spPr>
          <a:xfrm>
            <a:off x="9814400" y="3794480"/>
            <a:ext cx="1341280" cy="560000"/>
          </a:xfrm>
          <a:prstGeom prst="rect">
            <a:avLst/>
          </a:prstGeom>
          <a:noFill/>
        </p:spPr>
        <p:txBody>
          <a:bodyPr wrap="square" anchor="ctr" lIns="0" rIns="0" tIns="0" bIns="0">
            <a:spAutoFit/>
          </a:bodyPr>
          <a:lstStyle/>
          <a:p>
            <a:pPr algn="l"/>
            <a:r>
              <a:rPr sz="1300" b="0">
                <a:solidFill>
                  <a:srgbClr val="0F2A28"/>
                </a:solidFill>
                <a:latin typeface="Calibri"/>
              </a:rPr>
              <a:t>1</a:t>
            </a:r>
          </a:p>
        </p:txBody>
      </p:sp>
      <p:sp>
        <p:nvSpPr>
          <p:cNvPr id="38" name="Rectangle 37"/>
          <p:cNvSpPr/>
          <p:nvPr/>
        </p:nvSpPr>
        <p:spPr>
          <a:xfrm>
            <a:off x="822960" y="4354480"/>
            <a:ext cx="10424160" cy="560000"/>
          </a:xfrm>
          <a:prstGeom prst="rect">
            <a:avLst/>
          </a:prstGeom>
          <a:solidFill>
            <a:srgbClr val="0F2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354480"/>
            <a:ext cx="1617120" cy="560000"/>
          </a:xfrm>
          <a:prstGeom prst="rect">
            <a:avLst/>
          </a:prstGeom>
          <a:noFill/>
        </p:spPr>
        <p:txBody>
          <a:bodyPr wrap="square" anchor="ctr" lIns="0" rIns="0" tIns="0" bIns="0">
            <a:spAutoFit/>
          </a:bodyPr>
          <a:lstStyle/>
          <a:p>
            <a:pPr algn="l"/>
            <a:r>
              <a:rPr sz="1300" b="1">
                <a:solidFill>
                  <a:srgbClr val="FFFFFF"/>
                </a:solidFill>
                <a:latin typeface="Calibri"/>
              </a:rPr>
              <a:t>Total</a:t>
            </a:r>
          </a:p>
        </p:txBody>
      </p:sp>
      <p:sp>
        <p:nvSpPr>
          <p:cNvPr id="40" name="TextBox 39"/>
          <p:cNvSpPr txBox="1"/>
          <p:nvPr/>
        </p:nvSpPr>
        <p:spPr>
          <a:xfrm>
            <a:off x="2714400" y="4354480"/>
            <a:ext cx="2017120" cy="560000"/>
          </a:xfrm>
          <a:prstGeom prst="rect">
            <a:avLst/>
          </a:prstGeom>
          <a:noFill/>
        </p:spPr>
        <p:txBody>
          <a:bodyPr wrap="square" anchor="ctr" lIns="0" rIns="0" tIns="0" bIns="0">
            <a:spAutoFit/>
          </a:bodyPr>
          <a:lstStyle/>
          <a:p>
            <a:pPr algn="l"/>
            <a:r>
              <a:rPr sz="1300" b="1">
                <a:solidFill>
                  <a:srgbClr val="FFFFFF"/>
                </a:solidFill>
                <a:latin typeface="Calibri"/>
              </a:rPr>
              <a:t>189 / 189</a:t>
            </a:r>
          </a:p>
        </p:txBody>
      </p:sp>
      <p:sp>
        <p:nvSpPr>
          <p:cNvPr id="41" name="TextBox 40"/>
          <p:cNvSpPr txBox="1"/>
          <p:nvPr/>
        </p:nvSpPr>
        <p:spPr>
          <a:xfrm>
            <a:off x="4914400" y="4354480"/>
            <a:ext cx="2517120" cy="560000"/>
          </a:xfrm>
          <a:prstGeom prst="rect">
            <a:avLst/>
          </a:prstGeom>
          <a:noFill/>
        </p:spPr>
        <p:txBody>
          <a:bodyPr wrap="square" anchor="ctr" lIns="0" rIns="0" tIns="0" bIns="0">
            <a:spAutoFit/>
          </a:bodyPr>
          <a:lstStyle/>
          <a:p>
            <a:pPr algn="l"/>
            <a:r>
              <a:rPr sz="1300" b="1">
                <a:solidFill>
                  <a:srgbClr val="FFFFFF"/>
                </a:solidFill>
                <a:latin typeface="Calibri"/>
              </a:rPr>
              <a:t>39 / 39</a:t>
            </a:r>
          </a:p>
        </p:txBody>
      </p:sp>
      <p:sp>
        <p:nvSpPr>
          <p:cNvPr id="42" name="TextBox 41"/>
          <p:cNvSpPr txBox="1"/>
          <p:nvPr/>
        </p:nvSpPr>
        <p:spPr>
          <a:xfrm>
            <a:off x="7614400" y="4354480"/>
            <a:ext cx="2017120" cy="560000"/>
          </a:xfrm>
          <a:prstGeom prst="rect">
            <a:avLst/>
          </a:prstGeom>
          <a:noFill/>
        </p:spPr>
        <p:txBody>
          <a:bodyPr wrap="square" anchor="ctr" lIns="0" rIns="0" tIns="0" bIns="0">
            <a:spAutoFit/>
          </a:bodyPr>
          <a:lstStyle/>
          <a:p>
            <a:pPr algn="l"/>
            <a:r>
              <a:rPr sz="1300" b="1">
                <a:solidFill>
                  <a:srgbClr val="FFFFFF"/>
                </a:solidFill>
                <a:latin typeface="Calibri"/>
              </a:rPr>
              <a:t>8 / 9</a:t>
            </a:r>
          </a:p>
        </p:txBody>
      </p:sp>
      <p:sp>
        <p:nvSpPr>
          <p:cNvPr id="43" name="TextBox 42"/>
          <p:cNvSpPr txBox="1"/>
          <p:nvPr/>
        </p:nvSpPr>
        <p:spPr>
          <a:xfrm>
            <a:off x="9814400" y="4354480"/>
            <a:ext cx="1341280" cy="560000"/>
          </a:xfrm>
          <a:prstGeom prst="rect">
            <a:avLst/>
          </a:prstGeom>
          <a:noFill/>
        </p:spPr>
        <p:txBody>
          <a:bodyPr wrap="square" anchor="ctr" lIns="0" rIns="0" tIns="0" bIns="0">
            <a:spAutoFit/>
          </a:bodyPr>
          <a:lstStyle/>
          <a:p>
            <a:pPr algn="l"/>
            <a:r>
              <a:rPr sz="1300" b="1">
                <a:solidFill>
                  <a:srgbClr val="FFFFFF"/>
                </a:solidFill>
                <a:latin typeface="Calibri"/>
              </a:rPr>
              <a:t>2</a:t>
            </a:r>
          </a:p>
        </p:txBody>
      </p:sp>
      <p:sp>
        <p:nvSpPr>
          <p:cNvPr id="44" name="Rounded Rectangle 43"/>
          <p:cNvSpPr/>
          <p:nvPr/>
        </p:nvSpPr>
        <p:spPr>
          <a:xfrm>
            <a:off x="640080" y="5094480"/>
            <a:ext cx="3383280" cy="950000"/>
          </a:xfrm>
          <a:prstGeom prst="round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009688"/>
                </a:solidFill>
                <a:latin typeface="Calibri"/>
              </a:rPr>
              <a:t>228</a:t>
            </a:r>
          </a:p>
          <a:p>
            <a:pPr algn="ctr"/>
            <a:r>
              <a:rPr sz="1200" b="0">
                <a:solidFill>
                  <a:srgbClr val="0F2A28"/>
                </a:solidFill>
                <a:latin typeface="Calibri"/>
              </a:rPr>
              <a:t>Pruebas automatizadas exitosas</a:t>
            </a:r>
          </a:p>
        </p:txBody>
      </p:sp>
      <p:sp>
        <p:nvSpPr>
          <p:cNvPr id="45" name="Rounded Rectangle 44"/>
          <p:cNvSpPr/>
          <p:nvPr/>
        </p:nvSpPr>
        <p:spPr>
          <a:xfrm>
            <a:off x="4163360" y="5094480"/>
            <a:ext cx="3383280" cy="950000"/>
          </a:xfrm>
          <a:prstGeom prst="round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009688"/>
                </a:solidFill>
                <a:latin typeface="Calibri"/>
              </a:rPr>
              <a:t>8 / 9</a:t>
            </a:r>
          </a:p>
          <a:p>
            <a:pPr algn="ctr"/>
            <a:r>
              <a:rPr sz="1200" b="0">
                <a:solidFill>
                  <a:srgbClr val="0F2A28"/>
                </a:solidFill>
                <a:latin typeface="Calibri"/>
              </a:rPr>
              <a:t>Pasos funcionales de UI</a:t>
            </a:r>
          </a:p>
        </p:txBody>
      </p:sp>
      <p:sp>
        <p:nvSpPr>
          <p:cNvPr id="46" name="Rounded Rectangle 45"/>
          <p:cNvSpPr/>
          <p:nvPr/>
        </p:nvSpPr>
        <p:spPr>
          <a:xfrm>
            <a:off x="7686640" y="5094480"/>
            <a:ext cx="3383280" cy="950000"/>
          </a:xfrm>
          <a:prstGeom prst="round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009688"/>
                </a:solidFill>
                <a:latin typeface="Calibri"/>
              </a:rPr>
              <a:t>2</a:t>
            </a:r>
          </a:p>
          <a:p>
            <a:pPr algn="ctr"/>
            <a:r>
              <a:rPr sz="1200" b="0">
                <a:solidFill>
                  <a:srgbClr val="0F2A28"/>
                </a:solidFill>
                <a:latin typeface="Calibri"/>
              </a:rPr>
              <a:t>Defectos / discrepancias genuinas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Defectos Encontrados</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14</a:t>
            </a:r>
          </a:p>
        </p:txBody>
      </p:sp>
      <p:sp>
        <p:nvSpPr>
          <p:cNvPr id="7" name="TextBox 6"/>
          <p:cNvSpPr txBox="1"/>
          <p:nvPr/>
        </p:nvSpPr>
        <p:spPr>
          <a:xfrm>
            <a:off x="822960" y="1463040"/>
            <a:ext cx="10332720" cy="400000"/>
          </a:xfrm>
          <a:prstGeom prst="rect">
            <a:avLst/>
          </a:prstGeom>
          <a:noFill/>
        </p:spPr>
        <p:txBody>
          <a:bodyPr wrap="square" anchor="t" lIns="0" rIns="0" tIns="0" bIns="0">
            <a:spAutoFit/>
          </a:bodyPr>
          <a:lstStyle/>
          <a:p>
            <a:pPr algn="l"/>
            <a:r>
              <a:rPr sz="1700" b="0">
                <a:solidFill>
                  <a:srgbClr val="B02A2A"/>
                </a:solidFill>
                <a:latin typeface="Calibri"/>
              </a:rPr>
              <a:t>• Defecto 1 — CP-004: ruta de listado de emergencias faltante</a:t>
            </a:r>
          </a:p>
        </p:txBody>
      </p:sp>
      <p:sp>
        <p:nvSpPr>
          <p:cNvPr id="8" name="TextBox 7"/>
          <p:cNvSpPr txBox="1"/>
          <p:nvPr/>
        </p:nvSpPr>
        <p:spPr>
          <a:xfrm>
            <a:off x="1005840" y="1874519"/>
            <a:ext cx="10058400" cy="1300000"/>
          </a:xfrm>
          <a:prstGeom prst="rect">
            <a:avLst/>
          </a:prstGeom>
          <a:noFill/>
        </p:spPr>
        <p:txBody>
          <a:bodyPr wrap="square" anchor="t" lIns="0" rIns="0" tIns="0" bIns="0">
            <a:spAutoFit/>
          </a:bodyPr>
          <a:lstStyle/>
          <a:p>
            <a:pPr algn="l"/>
            <a:r>
              <a:rPr sz="1400" b="0">
                <a:solidFill>
                  <a:srgbClr val="0F2A28"/>
                </a:solidFill>
                <a:latin typeface="Calibri"/>
              </a:rPr>
              <a:t>EmergencyPage.js llama a GET /api/v1/emergencies, pero emergencyRoutes.ts no expone esa ruta. Las emergencias se detectan y crean correctamente en el backend, pero el panel de Emergencias del médico no puede mostrarlas. Severidad media-alta; prioridad de corrección recomendada.</a:t>
            </a:r>
          </a:p>
        </p:txBody>
      </p:sp>
      <p:sp>
        <p:nvSpPr>
          <p:cNvPr id="9" name="TextBox 8"/>
          <p:cNvSpPr txBox="1"/>
          <p:nvPr/>
        </p:nvSpPr>
        <p:spPr>
          <a:xfrm>
            <a:off x="822960" y="3400000"/>
            <a:ext cx="10332720" cy="400000"/>
          </a:xfrm>
          <a:prstGeom prst="rect">
            <a:avLst/>
          </a:prstGeom>
          <a:noFill/>
        </p:spPr>
        <p:txBody>
          <a:bodyPr wrap="square" anchor="t" lIns="0" rIns="0" tIns="0" bIns="0">
            <a:spAutoFit/>
          </a:bodyPr>
          <a:lstStyle/>
          <a:p>
            <a:pPr algn="l"/>
            <a:r>
              <a:rPr sz="1700" b="0">
                <a:solidFill>
                  <a:srgbClr val="B02A2A"/>
                </a:solidFill>
                <a:latin typeface="Calibri"/>
              </a:rPr>
              <a:t>• Defecto 2 — CP-009: endpoints genéricos de la especificación no existen</a:t>
            </a:r>
          </a:p>
        </p:txBody>
      </p:sp>
      <p:sp>
        <p:nvSpPr>
          <p:cNvPr id="10" name="TextBox 9"/>
          <p:cNvSpPr txBox="1"/>
          <p:nvPr/>
        </p:nvSpPr>
        <p:spPr>
          <a:xfrm>
            <a:off x="1005840" y="3811479"/>
            <a:ext cx="10058400" cy="1600000"/>
          </a:xfrm>
          <a:prstGeom prst="rect">
            <a:avLst/>
          </a:prstGeom>
          <a:noFill/>
        </p:spPr>
        <p:txBody>
          <a:bodyPr wrap="square" anchor="t" lIns="0" rIns="0" tIns="0" bIns="0">
            <a:spAutoFit/>
          </a:bodyPr>
          <a:lstStyle/>
          <a:p>
            <a:pPr algn="l"/>
            <a:r>
              <a:rPr sz="1400" b="0">
                <a:solidFill>
                  <a:srgbClr val="0F2A28"/>
                </a:solidFill>
                <a:latin typeface="Calibri"/>
              </a:rPr>
              <a:t>Las pruebas E2E de alertas "pasan" por aserciones tolerantes con HTTP 404. Los endpoints genéricos descritos en la especificación formal de CP-009 no existen; la implementación real usa endpoints específicos por propósito. Hallazgo detectado por inspección directa de código, no por el resultado reportado de la suite automatizada. Observación de UX adicional: el botón "Ver Monitoreo" no se oculta para roles distintos de admin.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Conclusiones</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15</a:t>
            </a:r>
          </a:p>
        </p:txBody>
      </p:sp>
      <p:sp>
        <p:nvSpPr>
          <p:cNvPr id="7" name="TextBox 6"/>
          <p:cNvSpPr txBox="1"/>
          <p:nvPr/>
        </p:nvSpPr>
        <p:spPr>
          <a:xfrm>
            <a:off x="822960" y="1463040"/>
            <a:ext cx="10332720" cy="4572000"/>
          </a:xfrm>
          <a:prstGeom prst="rect">
            <a:avLst/>
          </a:prstGeom>
          <a:noFill/>
        </p:spPr>
        <p:txBody>
          <a:bodyPr wrap="square" anchor="t" lIns="0" rIns="0" tIns="0" bIns="0">
            <a:spAutoFit/>
          </a:bodyPr>
          <a:lstStyle/>
          <a:p>
            <a:pPr>
              <a:spcAft>
                <a:spcPts val="1400"/>
              </a:spcAft>
            </a:pPr>
            <a:r>
              <a:rPr sz="1600" b="0">
                <a:solidFill>
                  <a:srgbClr val="0F2A28"/>
                </a:solidFill>
                <a:latin typeface="Calibri"/>
              </a:rPr>
              <a:t>• La capa de lógica de negocio del backend (servicios y controladores) de los cuatro casos evaluados está completamente validada: 228 pruebas automatizadas exitosas, sin excepciones no controladas.</a:t>
            </a:r>
          </a:p>
          <a:p>
            <a:pPr>
              <a:spcAft>
                <a:spcPts val="1400"/>
              </a:spcAft>
            </a:pPr>
            <a:r>
              <a:rPr sz="1600" b="0">
                <a:solidFill>
                  <a:srgbClr val="0F2A28"/>
                </a:solidFill>
                <a:latin typeface="Calibri"/>
              </a:rPr>
              <a:t>• La automatización de pruebas funcionales con Playwright sobre la interfaz web real permitió descubrir un defecto genuino (CP-004) que las pruebas de backend, por sí solas, no podían revelar.</a:t>
            </a:r>
          </a:p>
          <a:p>
            <a:pPr>
              <a:spcAft>
                <a:spcPts val="1400"/>
              </a:spcAft>
            </a:pPr>
            <a:r>
              <a:rPr sz="1600" b="0">
                <a:solidFill>
                  <a:srgbClr val="0F2A28"/>
                </a:solidFill>
                <a:latin typeface="Calibri"/>
              </a:rPr>
              <a:t>• Un backend 100 % probado a nivel de API no garantiza, por sí solo, que la interfaz que lo consume funcione correctamente.</a:t>
            </a:r>
          </a:p>
          <a:p>
            <a:pPr>
              <a:spcAft>
                <a:spcPts val="1400"/>
              </a:spcAft>
            </a:pPr>
            <a:r>
              <a:rPr sz="1600" b="0">
                <a:solidFill>
                  <a:srgbClr val="0F2A28"/>
                </a:solidFill>
                <a:latin typeface="Calibri"/>
              </a:rPr>
              <a:t>• CP-007 confirma que el flujo clínico de supervisión humana sobre predicciones de IA está correctamente implementado y probado a nivel de API; queda como trabajo futuro una interfaz web dedicada para dicha revisión.</a:t>
            </a:r>
          </a:p>
          <a:p>
            <a:pPr>
              <a:spcAft>
                <a:spcPts val="1400"/>
              </a:spcAft>
            </a:pPr>
            <a:r>
              <a:rPr sz="1600" b="0">
                <a:solidFill>
                  <a:srgbClr val="0F2A28"/>
                </a:solidFill>
                <a:latin typeface="Calibri"/>
              </a:rPr>
              <a:t>• La inspección directa de código (CP-009) reveló una segunda discrepancia genuina entre la especificación formal y la implementación real, no visible en el resultado reportado de la suite automatizada.</a:t>
            </a:r>
          </a:p>
          <a:p>
            <a:pPr>
              <a:spcAft>
                <a:spcPts val="1400"/>
              </a:spcAft>
            </a:pPr>
            <a:r>
              <a:rPr sz="1600" b="0">
                <a:solidFill>
                  <a:srgbClr val="0F2A28"/>
                </a:solidFill>
                <a:latin typeface="Calibri"/>
              </a:rPr>
              <a:t>• Se recomienda registrar ambos hallazgos en el backlog como defectos a corregir y revisar las aserciones tolerantes de las pruebas E2E de alertas.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515600" cy="640080"/>
          </a:xfrm>
          <a:prstGeom prst="rect">
            <a:avLst/>
          </a:prstGeom>
          <a:noFill/>
        </p:spPr>
        <p:txBody>
          <a:bodyPr wrap="square" anchor="t" lIns="0" rIns="0" tIns="0" bIns="0">
            <a:spAutoFit/>
          </a:bodyPr>
          <a:lstStyle/>
          <a:p>
            <a:pPr algn="l"/>
            <a:r>
              <a:rPr sz="2800" b="1">
                <a:solidFill>
                  <a:srgbClr val="FFFFFF"/>
                </a:solidFill>
                <a:latin typeface="Calibri"/>
              </a:rPr>
              <a:t>Anexos — Entorno de Ejecución Común</a:t>
            </a:r>
          </a:p>
        </p:txBody>
      </p:sp>
      <p:sp>
        <p:nvSpPr>
          <p:cNvPr id="4" name="Rectangle 3"/>
          <p:cNvSpPr/>
          <p:nvPr/>
        </p:nvSpPr>
        <p:spPr>
          <a:xfrm>
            <a:off x="0" y="1051560"/>
            <a:ext cx="12191695" cy="50800"/>
          </a:xfrm>
          <a:prstGeom prst="rect">
            <a:avLst/>
          </a:prstGeom>
          <a:solidFill>
            <a:srgbClr val="33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5486400" cy="320040"/>
          </a:xfrm>
          <a:prstGeom prst="rect">
            <a:avLst/>
          </a:prstGeom>
          <a:noFill/>
        </p:spPr>
        <p:txBody>
          <a:bodyPr wrap="square" anchor="t" lIns="0" rIns="0" tIns="0" bIns="0">
            <a:spAutoFit/>
          </a:bodyPr>
          <a:lstStyle/>
          <a:p>
            <a:pPr algn="l"/>
            <a:r>
              <a:rPr sz="1000" b="0">
                <a:solidFill>
                  <a:srgbClr val="4A4A4A"/>
                </a:solidFill>
                <a:latin typeface="Calibri"/>
              </a:rPr>
              <a:t>RespiCare — Informe de Evidencias de Pruebas</a:t>
            </a:r>
          </a:p>
        </p:txBody>
      </p:sp>
      <p:sp>
        <p:nvSpPr>
          <p:cNvPr id="6" name="TextBox 5"/>
          <p:cNvSpPr txBox="1"/>
          <p:nvPr/>
        </p:nvSpPr>
        <p:spPr>
          <a:xfrm>
            <a:off x="10607040" y="6446520"/>
            <a:ext cx="1371600" cy="320040"/>
          </a:xfrm>
          <a:prstGeom prst="rect">
            <a:avLst/>
          </a:prstGeom>
          <a:noFill/>
        </p:spPr>
        <p:txBody>
          <a:bodyPr wrap="square" anchor="t" lIns="0" rIns="0" tIns="0" bIns="0">
            <a:spAutoFit/>
          </a:bodyPr>
          <a:lstStyle/>
          <a:p>
            <a:pPr algn="r"/>
            <a:r>
              <a:rPr sz="1000" b="0">
                <a:solidFill>
                  <a:srgbClr val="4A4A4A"/>
                </a:solidFill>
                <a:latin typeface="Calibri"/>
              </a:rPr>
              <a:t>16</a:t>
            </a:r>
          </a:p>
        </p:txBody>
      </p:sp>
      <p:sp>
        <p:nvSpPr>
          <p:cNvPr id="7" name="Rectangle 6"/>
          <p:cNvSpPr/>
          <p:nvPr/>
        </p:nvSpPr>
        <p:spPr>
          <a:xfrm>
            <a:off x="822960" y="1554480"/>
            <a:ext cx="10424160" cy="46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3017120" cy="460000"/>
          </a:xfrm>
          <a:prstGeom prst="rect">
            <a:avLst/>
          </a:prstGeom>
          <a:noFill/>
        </p:spPr>
        <p:txBody>
          <a:bodyPr wrap="square" anchor="ctr" lIns="0" rIns="0" tIns="0" bIns="0">
            <a:spAutoFit/>
          </a:bodyPr>
          <a:lstStyle/>
          <a:p>
            <a:pPr algn="l"/>
            <a:r>
              <a:rPr sz="1300" b="1">
                <a:solidFill>
                  <a:srgbClr val="0F2A28"/>
                </a:solidFill>
                <a:latin typeface="Calibri"/>
              </a:rPr>
              <a:t>Repositorio</a:t>
            </a:r>
          </a:p>
        </p:txBody>
      </p:sp>
      <p:sp>
        <p:nvSpPr>
          <p:cNvPr id="9" name="TextBox 8"/>
          <p:cNvSpPr txBox="1"/>
          <p:nvPr/>
        </p:nvSpPr>
        <p:spPr>
          <a:xfrm>
            <a:off x="4114400" y="1554480"/>
            <a:ext cx="7041280" cy="460000"/>
          </a:xfrm>
          <a:prstGeom prst="rect">
            <a:avLst/>
          </a:prstGeom>
          <a:noFill/>
        </p:spPr>
        <p:txBody>
          <a:bodyPr wrap="square" anchor="ctr" lIns="0" rIns="0" tIns="0" bIns="0">
            <a:spAutoFit/>
          </a:bodyPr>
          <a:lstStyle/>
          <a:p>
            <a:pPr algn="l"/>
            <a:r>
              <a:rPr sz="1300" b="0">
                <a:solidFill>
                  <a:srgbClr val="0F2A28"/>
                </a:solidFill>
                <a:latin typeface="Calibri"/>
              </a:rPr>
              <a:t>Sistema-Web-y-Móvil-para-la-detección-de-enfermedades-respiratorias-en-Tacna-en-2026</a:t>
            </a:r>
          </a:p>
        </p:txBody>
      </p:sp>
      <p:sp>
        <p:nvSpPr>
          <p:cNvPr id="10" name="Rectangle 9"/>
          <p:cNvSpPr/>
          <p:nvPr/>
        </p:nvSpPr>
        <p:spPr>
          <a:xfrm>
            <a:off x="822960" y="2014480"/>
            <a:ext cx="1042416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014480"/>
            <a:ext cx="3017120" cy="460000"/>
          </a:xfrm>
          <a:prstGeom prst="rect">
            <a:avLst/>
          </a:prstGeom>
          <a:noFill/>
        </p:spPr>
        <p:txBody>
          <a:bodyPr wrap="square" anchor="ctr" lIns="0" rIns="0" tIns="0" bIns="0">
            <a:spAutoFit/>
          </a:bodyPr>
          <a:lstStyle/>
          <a:p>
            <a:pPr algn="l"/>
            <a:r>
              <a:rPr sz="1300" b="1">
                <a:solidFill>
                  <a:srgbClr val="0F2A28"/>
                </a:solidFill>
                <a:latin typeface="Calibri"/>
              </a:rPr>
              <a:t>Rama de trabajo</a:t>
            </a:r>
          </a:p>
        </p:txBody>
      </p:sp>
      <p:sp>
        <p:nvSpPr>
          <p:cNvPr id="12" name="TextBox 11"/>
          <p:cNvSpPr txBox="1"/>
          <p:nvPr/>
        </p:nvSpPr>
        <p:spPr>
          <a:xfrm>
            <a:off x="4114400" y="2014480"/>
            <a:ext cx="7041280" cy="460000"/>
          </a:xfrm>
          <a:prstGeom prst="rect">
            <a:avLst/>
          </a:prstGeom>
          <a:noFill/>
        </p:spPr>
        <p:txBody>
          <a:bodyPr wrap="square" anchor="ctr" lIns="0" rIns="0" tIns="0" bIns="0">
            <a:spAutoFit/>
          </a:bodyPr>
          <a:lstStyle/>
          <a:p>
            <a:pPr algn="l"/>
            <a:r>
              <a:rPr sz="1300" b="0">
                <a:solidFill>
                  <a:srgbClr val="0F2A28"/>
                </a:solidFill>
                <a:latin typeface="Calibri"/>
              </a:rPr>
              <a:t>fabian</a:t>
            </a:r>
          </a:p>
        </p:txBody>
      </p:sp>
      <p:sp>
        <p:nvSpPr>
          <p:cNvPr id="13" name="Rectangle 12"/>
          <p:cNvSpPr/>
          <p:nvPr/>
        </p:nvSpPr>
        <p:spPr>
          <a:xfrm>
            <a:off x="822960" y="2474480"/>
            <a:ext cx="10424160" cy="46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74480"/>
            <a:ext cx="3017120" cy="460000"/>
          </a:xfrm>
          <a:prstGeom prst="rect">
            <a:avLst/>
          </a:prstGeom>
          <a:noFill/>
        </p:spPr>
        <p:txBody>
          <a:bodyPr wrap="square" anchor="ctr" lIns="0" rIns="0" tIns="0" bIns="0">
            <a:spAutoFit/>
          </a:bodyPr>
          <a:lstStyle/>
          <a:p>
            <a:pPr algn="l"/>
            <a:r>
              <a:rPr sz="1300" b="1">
                <a:solidFill>
                  <a:srgbClr val="0F2A28"/>
                </a:solidFill>
                <a:latin typeface="Calibri"/>
              </a:rPr>
              <a:t>Node.js</a:t>
            </a:r>
          </a:p>
        </p:txBody>
      </p:sp>
      <p:sp>
        <p:nvSpPr>
          <p:cNvPr id="15" name="TextBox 14"/>
          <p:cNvSpPr txBox="1"/>
          <p:nvPr/>
        </p:nvSpPr>
        <p:spPr>
          <a:xfrm>
            <a:off x="4114400" y="2474480"/>
            <a:ext cx="7041280" cy="460000"/>
          </a:xfrm>
          <a:prstGeom prst="rect">
            <a:avLst/>
          </a:prstGeom>
          <a:noFill/>
        </p:spPr>
        <p:txBody>
          <a:bodyPr wrap="square" anchor="ctr" lIns="0" rIns="0" tIns="0" bIns="0">
            <a:spAutoFit/>
          </a:bodyPr>
          <a:lstStyle/>
          <a:p>
            <a:pPr algn="l"/>
            <a:r>
              <a:rPr sz="1300" b="0">
                <a:solidFill>
                  <a:srgbClr val="0F2A28"/>
                </a:solidFill>
                <a:latin typeface="Calibri"/>
              </a:rPr>
              <a:t>v20.20.2 (compatibilidad de bindings nativos de Sentry)</a:t>
            </a:r>
          </a:p>
        </p:txBody>
      </p:sp>
      <p:sp>
        <p:nvSpPr>
          <p:cNvPr id="16" name="Rectangle 15"/>
          <p:cNvSpPr/>
          <p:nvPr/>
        </p:nvSpPr>
        <p:spPr>
          <a:xfrm>
            <a:off x="822960" y="2934480"/>
            <a:ext cx="1042416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934480"/>
            <a:ext cx="3017120" cy="460000"/>
          </a:xfrm>
          <a:prstGeom prst="rect">
            <a:avLst/>
          </a:prstGeom>
          <a:noFill/>
        </p:spPr>
        <p:txBody>
          <a:bodyPr wrap="square" anchor="ctr" lIns="0" rIns="0" tIns="0" bIns="0">
            <a:spAutoFit/>
          </a:bodyPr>
          <a:lstStyle/>
          <a:p>
            <a:pPr algn="l"/>
            <a:r>
              <a:rPr sz="1300" b="1">
                <a:solidFill>
                  <a:srgbClr val="0F2A28"/>
                </a:solidFill>
                <a:latin typeface="Calibri"/>
              </a:rPr>
              <a:t>MongoDB de desarrollo</a:t>
            </a:r>
          </a:p>
        </p:txBody>
      </p:sp>
      <p:sp>
        <p:nvSpPr>
          <p:cNvPr id="18" name="TextBox 17"/>
          <p:cNvSpPr txBox="1"/>
          <p:nvPr/>
        </p:nvSpPr>
        <p:spPr>
          <a:xfrm>
            <a:off x="4114400" y="2934480"/>
            <a:ext cx="7041280" cy="460000"/>
          </a:xfrm>
          <a:prstGeom prst="rect">
            <a:avLst/>
          </a:prstGeom>
          <a:noFill/>
        </p:spPr>
        <p:txBody>
          <a:bodyPr wrap="square" anchor="ctr" lIns="0" rIns="0" tIns="0" bIns="0">
            <a:spAutoFit/>
          </a:bodyPr>
          <a:lstStyle/>
          <a:p>
            <a:pPr algn="l"/>
            <a:r>
              <a:rPr sz="1300" b="0">
                <a:solidFill>
                  <a:srgbClr val="0F2A28"/>
                </a:solidFill>
                <a:latin typeface="Calibri"/>
              </a:rPr>
              <a:t>Contenedor respicare-mongodb-dev, puerto 27018</a:t>
            </a:r>
          </a:p>
        </p:txBody>
      </p:sp>
      <p:sp>
        <p:nvSpPr>
          <p:cNvPr id="19" name="Rectangle 18"/>
          <p:cNvSpPr/>
          <p:nvPr/>
        </p:nvSpPr>
        <p:spPr>
          <a:xfrm>
            <a:off x="822960" y="3394480"/>
            <a:ext cx="10424160" cy="46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394480"/>
            <a:ext cx="3017120" cy="460000"/>
          </a:xfrm>
          <a:prstGeom prst="rect">
            <a:avLst/>
          </a:prstGeom>
          <a:noFill/>
        </p:spPr>
        <p:txBody>
          <a:bodyPr wrap="square" anchor="ctr" lIns="0" rIns="0" tIns="0" bIns="0">
            <a:spAutoFit/>
          </a:bodyPr>
          <a:lstStyle/>
          <a:p>
            <a:pPr algn="l"/>
            <a:r>
              <a:rPr sz="1300" b="1">
                <a:solidFill>
                  <a:srgbClr val="0F2A28"/>
                </a:solidFill>
                <a:latin typeface="Calibri"/>
              </a:rPr>
              <a:t>Redis de desarrollo</a:t>
            </a:r>
          </a:p>
        </p:txBody>
      </p:sp>
      <p:sp>
        <p:nvSpPr>
          <p:cNvPr id="21" name="TextBox 20"/>
          <p:cNvSpPr txBox="1"/>
          <p:nvPr/>
        </p:nvSpPr>
        <p:spPr>
          <a:xfrm>
            <a:off x="4114400" y="3394480"/>
            <a:ext cx="7041280" cy="460000"/>
          </a:xfrm>
          <a:prstGeom prst="rect">
            <a:avLst/>
          </a:prstGeom>
          <a:noFill/>
        </p:spPr>
        <p:txBody>
          <a:bodyPr wrap="square" anchor="ctr" lIns="0" rIns="0" tIns="0" bIns="0">
            <a:spAutoFit/>
          </a:bodyPr>
          <a:lstStyle/>
          <a:p>
            <a:pPr algn="l"/>
            <a:r>
              <a:rPr sz="1300" b="0">
                <a:solidFill>
                  <a:srgbClr val="0F2A28"/>
                </a:solidFill>
                <a:latin typeface="Calibri"/>
              </a:rPr>
              <a:t>Contenedor respicare-redis-dev, puerto 6379</a:t>
            </a:r>
          </a:p>
        </p:txBody>
      </p:sp>
      <p:sp>
        <p:nvSpPr>
          <p:cNvPr id="22" name="Rectangle 21"/>
          <p:cNvSpPr/>
          <p:nvPr/>
        </p:nvSpPr>
        <p:spPr>
          <a:xfrm>
            <a:off x="822960" y="3854480"/>
            <a:ext cx="1042416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854480"/>
            <a:ext cx="3017120" cy="460000"/>
          </a:xfrm>
          <a:prstGeom prst="rect">
            <a:avLst/>
          </a:prstGeom>
          <a:noFill/>
        </p:spPr>
        <p:txBody>
          <a:bodyPr wrap="square" anchor="ctr" lIns="0" rIns="0" tIns="0" bIns="0">
            <a:spAutoFit/>
          </a:bodyPr>
          <a:lstStyle/>
          <a:p>
            <a:pPr algn="l"/>
            <a:r>
              <a:rPr sz="1300" b="1">
                <a:solidFill>
                  <a:srgbClr val="0F2A28"/>
                </a:solidFill>
                <a:latin typeface="Calibri"/>
              </a:rPr>
              <a:t>Backend</a:t>
            </a:r>
          </a:p>
        </p:txBody>
      </p:sp>
      <p:sp>
        <p:nvSpPr>
          <p:cNvPr id="24" name="TextBox 23"/>
          <p:cNvSpPr txBox="1"/>
          <p:nvPr/>
        </p:nvSpPr>
        <p:spPr>
          <a:xfrm>
            <a:off x="4114400" y="3854480"/>
            <a:ext cx="7041280" cy="460000"/>
          </a:xfrm>
          <a:prstGeom prst="rect">
            <a:avLst/>
          </a:prstGeom>
          <a:noFill/>
        </p:spPr>
        <p:txBody>
          <a:bodyPr wrap="square" anchor="ctr" lIns="0" rIns="0" tIns="0" bIns="0">
            <a:spAutoFit/>
          </a:bodyPr>
          <a:lstStyle/>
          <a:p>
            <a:pPr algn="l"/>
            <a:r>
              <a:rPr sz="1300" b="0">
                <a:solidFill>
                  <a:srgbClr val="0F2A28"/>
                </a:solidFill>
                <a:latin typeface="Calibri"/>
              </a:rPr>
              <a:t>npm run dev, http://localhost:3001</a:t>
            </a:r>
          </a:p>
        </p:txBody>
      </p:sp>
      <p:sp>
        <p:nvSpPr>
          <p:cNvPr id="25" name="Rectangle 24"/>
          <p:cNvSpPr/>
          <p:nvPr/>
        </p:nvSpPr>
        <p:spPr>
          <a:xfrm>
            <a:off x="822960" y="4314480"/>
            <a:ext cx="10424160" cy="460000"/>
          </a:xfrm>
          <a:prstGeom prst="rect">
            <a:avLst/>
          </a:prstGeom>
          <a:solidFill>
            <a:srgbClr val="F4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314480"/>
            <a:ext cx="3017120" cy="460000"/>
          </a:xfrm>
          <a:prstGeom prst="rect">
            <a:avLst/>
          </a:prstGeom>
          <a:noFill/>
        </p:spPr>
        <p:txBody>
          <a:bodyPr wrap="square" anchor="ctr" lIns="0" rIns="0" tIns="0" bIns="0">
            <a:spAutoFit/>
          </a:bodyPr>
          <a:lstStyle/>
          <a:p>
            <a:pPr algn="l"/>
            <a:r>
              <a:rPr sz="1300" b="1">
                <a:solidFill>
                  <a:srgbClr val="0F2A28"/>
                </a:solidFill>
                <a:latin typeface="Calibri"/>
              </a:rPr>
              <a:t>Frontend web</a:t>
            </a:r>
          </a:p>
        </p:txBody>
      </p:sp>
      <p:sp>
        <p:nvSpPr>
          <p:cNvPr id="27" name="TextBox 26"/>
          <p:cNvSpPr txBox="1"/>
          <p:nvPr/>
        </p:nvSpPr>
        <p:spPr>
          <a:xfrm>
            <a:off x="4114400" y="4314480"/>
            <a:ext cx="7041280" cy="460000"/>
          </a:xfrm>
          <a:prstGeom prst="rect">
            <a:avLst/>
          </a:prstGeom>
          <a:noFill/>
        </p:spPr>
        <p:txBody>
          <a:bodyPr wrap="square" anchor="ctr" lIns="0" rIns="0" tIns="0" bIns="0">
            <a:spAutoFit/>
          </a:bodyPr>
          <a:lstStyle/>
          <a:p>
            <a:pPr algn="l"/>
            <a:r>
              <a:rPr sz="1300" b="0">
                <a:solidFill>
                  <a:srgbClr val="0F2A28"/>
                </a:solidFill>
                <a:latin typeface="Calibri"/>
              </a:rPr>
              <a:t>http://localhost:3000</a:t>
            </a:r>
          </a:p>
        </p:txBody>
      </p:sp>
      <p:sp>
        <p:nvSpPr>
          <p:cNvPr id="28" name="Rectangle 27"/>
          <p:cNvSpPr/>
          <p:nvPr/>
        </p:nvSpPr>
        <p:spPr>
          <a:xfrm>
            <a:off x="822960" y="4774480"/>
            <a:ext cx="1042416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774480"/>
            <a:ext cx="3017120" cy="460000"/>
          </a:xfrm>
          <a:prstGeom prst="rect">
            <a:avLst/>
          </a:prstGeom>
          <a:noFill/>
        </p:spPr>
        <p:txBody>
          <a:bodyPr wrap="square" anchor="ctr" lIns="0" rIns="0" tIns="0" bIns="0">
            <a:spAutoFit/>
          </a:bodyPr>
          <a:lstStyle/>
          <a:p>
            <a:pPr algn="l"/>
            <a:r>
              <a:rPr sz="1300" b="1">
                <a:solidFill>
                  <a:srgbClr val="0F2A28"/>
                </a:solidFill>
                <a:latin typeface="Calibri"/>
              </a:rPr>
              <a:t>Fecha de ejecución</a:t>
            </a:r>
          </a:p>
        </p:txBody>
      </p:sp>
      <p:sp>
        <p:nvSpPr>
          <p:cNvPr id="30" name="TextBox 29"/>
          <p:cNvSpPr txBox="1"/>
          <p:nvPr/>
        </p:nvSpPr>
        <p:spPr>
          <a:xfrm>
            <a:off x="4114400" y="4774480"/>
            <a:ext cx="7041280" cy="460000"/>
          </a:xfrm>
          <a:prstGeom prst="rect">
            <a:avLst/>
          </a:prstGeom>
          <a:noFill/>
        </p:spPr>
        <p:txBody>
          <a:bodyPr wrap="square" anchor="ctr" lIns="0" rIns="0" tIns="0" bIns="0">
            <a:spAutoFit/>
          </a:bodyPr>
          <a:lstStyle/>
          <a:p>
            <a:pPr algn="l"/>
            <a:r>
              <a:rPr sz="1300" b="0">
                <a:solidFill>
                  <a:srgbClr val="0F2A28"/>
                </a:solidFill>
                <a:latin typeface="Calibri"/>
              </a:rPr>
              <a:t>08/10/2026 – 10/10/2026</a:t>
            </a:r>
          </a:p>
        </p:txBody>
      </p:sp>
      <p:sp>
        <p:nvSpPr>
          <p:cNvPr id="31" name="TextBox 30"/>
          <p:cNvSpPr txBox="1"/>
          <p:nvPr/>
        </p:nvSpPr>
        <p:spPr>
          <a:xfrm>
            <a:off x="822960" y="5384480"/>
            <a:ext cx="10332720" cy="700000"/>
          </a:xfrm>
          <a:prstGeom prst="rect">
            <a:avLst/>
          </a:prstGeom>
          <a:noFill/>
        </p:spPr>
        <p:txBody>
          <a:bodyPr wrap="square" anchor="t" lIns="0" rIns="0" tIns="0" bIns="0">
            <a:spAutoFit/>
          </a:bodyPr>
          <a:lstStyle/>
          <a:p>
            <a:pPr algn="l"/>
            <a:r>
              <a:rPr sz="1300" b="0">
                <a:solidFill>
                  <a:srgbClr val="4A4A4A"/>
                </a:solidFill>
                <a:latin typeface="Calibri"/>
              </a:rPr>
              <a:t>Técnicas: Jest (unitarias), Jest + Supertest (integración/E2E contra backend y BD reales), Playwright/Chromium (funcional de interfaz web).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2A28"/>
        </a:solidFill>
        <a:effectLst/>
      </p:bgPr>
    </p:bg>
    <p:spTree>
      <p:nvGrpSpPr>
        <p:cNvPr id="1" name=""/>
        <p:cNvGrpSpPr/>
        <p:nvPr/>
      </p:nvGrpSpPr>
      <p:grpSpPr/>
      <p:sp>
        <p:nvSpPr>
          <p:cNvPr id="2" name="TextBox 1"/>
          <p:cNvSpPr txBox="1"/>
          <p:nvPr/>
        </p:nvSpPr>
        <p:spPr>
          <a:xfrm>
            <a:off x="914400" y="2743200"/>
            <a:ext cx="10332720" cy="1097280"/>
          </a:xfrm>
          <a:prstGeom prst="rect">
            <a:avLst/>
          </a:prstGeom>
          <a:noFill/>
        </p:spPr>
        <p:txBody>
          <a:bodyPr wrap="square" anchor="t" lIns="0" rIns="0" tIns="0" bIns="0">
            <a:spAutoFit/>
          </a:bodyPr>
          <a:lstStyle/>
          <a:p>
            <a:pPr algn="l"/>
            <a:r>
              <a:rPr sz="4400" b="1">
                <a:solidFill>
                  <a:srgbClr val="FFFFFF"/>
                </a:solidFill>
                <a:latin typeface="Calibri"/>
              </a:rPr>
              <a:t>Gracias</a:t>
            </a:r>
          </a:p>
        </p:txBody>
      </p:sp>
      <p:sp>
        <p:nvSpPr>
          <p:cNvPr id="3" name="TextBox 2"/>
          <p:cNvSpPr txBox="1"/>
          <p:nvPr/>
        </p:nvSpPr>
        <p:spPr>
          <a:xfrm>
            <a:off x="914400" y="3657600"/>
            <a:ext cx="10332720" cy="548640"/>
          </a:xfrm>
          <a:prstGeom prst="rect">
            <a:avLst/>
          </a:prstGeom>
          <a:noFill/>
        </p:spPr>
        <p:txBody>
          <a:bodyPr wrap="square" anchor="t" lIns="0" rIns="0" tIns="0" bIns="0">
            <a:spAutoFit/>
          </a:bodyPr>
          <a:lstStyle/>
          <a:p>
            <a:pPr algn="l"/>
            <a:r>
              <a:rPr sz="1800" b="0">
                <a:solidFill>
                  <a:srgbClr val="7FE0D6"/>
                </a:solidFill>
                <a:latin typeface="Calibri"/>
              </a:rPr>
              <a:t>Preguntas y discusión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
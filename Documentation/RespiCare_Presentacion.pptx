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Sistema Web y Móvil para la Detección de
Enfermedades Respiratorias en Tacna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FE0D6"/>
                </a:solidFill>
                <a:latin typeface="Calibri"/>
              </a:rPr>
              <a:t>RespiCare — Plataforma clínica integral con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Universidad Privada de Tacna
Facultad de Ingeniería — Escuela Profesional de Ingeniería de Sistemas
Curso: Construcción de Software II — Docente: Ing. Ricardo Valcárcel Alvarado
Estudiante: Chavez Linares, Cesar Fabian (2019063854)
Tacna, Perú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Contexto y problema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Objetivos del proyecto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Arquitectura del sistema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Stack tecnológico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Módulos y funcionalidades (backend, IA/ML, web, móvil)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Sprint 13 — Interoperabilidad institucional y wearables como validación clínica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Panel del médico (rediseño)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Seguridad — hallazgo y corrección aplicada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Calidad: cobertura de tests y estado de build por servicio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Estado de despliegue y metodología ágil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F2A28"/>
                </a:solidFill>
                <a:latin typeface="Calibri"/>
              </a:rPr>
              <a:t>• Conclusiones y trabajo futuro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Contexto y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Calibri"/>
              </a:rPr>
              <a:t>¿Por qué RespiCare?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Las enfermedades respiratorias son un problema de salud pública recurrente en Tacna.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Diagnóstico tardío por falta de herramientas accesibles de detección temprana.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El seguimiento de pacientes crónicos (síntomas, signos vitales) es manual y fragmentado entre web, móvil y wearables.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Las autoridades de salud (MINSA/DIRESA/SINADEF) no cuentan con un canal estandarizado para intercambiar datos epidemiológicos con sistemas privados.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Oportunidad: aplicar IA (NLP + visión + audio) y datos de wearables para apoyar el diagnóstico y la vigilancia epidemiológica.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Objetivos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• 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Desarrollar un sistema web y móvil integrado que permita la detección temprana y el seguimiento de enfermedades respiratorias mediante NLP y machine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• Objetivos específicos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Arquitectura de microservicios escalable (backend, IA/ML, web, móvil).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Modelos de ML con precisión &gt;95% para clasificación de síntomas, imágenes y audio.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Interfaz web para profesionales de salud con monitoreo de pacientes en tiempo real.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App móvil nativa (Capacitor + Android) con soporte offline-first y wearables BLE.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Interoperabilidad institucional (HL7/FHIR y API MINSA/DIRESA/SINADEF).</a:t>
            </a:r>
          </a:p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Gestión del proyecto con metodología ágil Scrum.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13716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FFFFFF"/>
                </a:solidFill>
              </a:rPr>
              <a:t>Frontend Web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React 18 · Vercel
(rama fabian)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383280" cy="13716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FFFFFF"/>
                </a:solidFill>
              </a:rPr>
              <a:t>App Móvil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Next.js 16 + Capacitor
Android APK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1371600"/>
          </a:xfrm>
          <a:prstGeom prst="roundRect">
            <a:avLst/>
          </a:prstGeom>
          <a:solidFill>
            <a:srgbClr val="3377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FFFFFF"/>
                </a:solidFill>
              </a:rPr>
              <a:t>Backend API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Node.js / Express / TS
Docker + Nginx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3383280" cy="1371600"/>
          </a:xfrm>
          <a:prstGeom prst="roundRect">
            <a:avLst/>
          </a:prstGeom>
          <a:solidFill>
            <a:srgbClr val="3377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FFFFFF"/>
                </a:solidFill>
              </a:rPr>
              <a:t>AI / ML Services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Python / FastAPI
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46120"/>
            <a:ext cx="3383280" cy="1371600"/>
          </a:xfrm>
          <a:prstGeom prst="roundRect">
            <a:avLst/>
          </a:prstGeom>
          <a:solidFill>
            <a:srgbClr val="33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FFFFFF"/>
                </a:solidFill>
              </a:rPr>
              <a:t>MongoDB 6.0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Datos clínicos
(cifrado AES-256-GCM)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246120"/>
            <a:ext cx="3383280" cy="1371600"/>
          </a:xfrm>
          <a:prstGeom prst="roundRect">
            <a:avLst/>
          </a:prstGeom>
          <a:solidFill>
            <a:srgbClr val="3399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FFFFFF"/>
                </a:solidFill>
              </a:rPr>
              <a:t>Redis 7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Caché / sesiones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Nginx enruta tráfico HTTPS vía Cloudflare Tunnel hacia backend y AI services; el frontend web se despliega por separado en Vercel. Todos los servicios de servidor corren en la red Docker respicare-net.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Frontend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1732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React 18, Axios, Recharts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196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App Móvil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819656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Next.js 16, Capacitor 6.x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21992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Node.js 18+, Express,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2432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AI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624328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Python 3.11+, FastAPI, uvicorn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2666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026664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PyTorch, Whisper, ResNet50, scikit-learn, 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Base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2900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MongoDB 6.0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Caché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41732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Redis 7.x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1965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Reverse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819656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Nginx Alpine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219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Tunnel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221992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Cloudflare Tunnel (cloudflared)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2432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Contenedores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624328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Docker + Docker Compose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2666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026664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GitHub Actions + Vercel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Cifrado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42900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AES-256-GCM en campos sensibles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Módulos — Backend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Calibri"/>
              </a:rPr>
              <a:t>Node.js / Express / TypeScript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F2A28"/>
                </a:solidFill>
                <a:latin typeface="Calibri"/>
              </a:rPr>
              <a:t>• Autenticación y autorización — JWT + refresh token, roles (admin/doctor/patient), cifrado AES-256-GCM de campos sensibles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2A28"/>
                </a:solidFill>
                <a:latin typeface="Calibri"/>
              </a:rPr>
              <a:t>• Historiales médicos, citas, alertas clínicas, prescripciones, referidos y resultados de laboratorio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2A28"/>
                </a:solidFill>
                <a:latin typeface="Calibri"/>
              </a:rPr>
              <a:t>• Wearables — métricas en tiempo real vía WebSocket (FC, SpO₂, pasos); vitales BLE alimentan el motor de IA como capa de validación clínica basada en reglas, con degradación automática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2A28"/>
                </a:solidFill>
                <a:latin typeface="Calibri"/>
              </a:rPr>
              <a:t>• Analytics ejecutivo — KPIs clínicos, epidemiología por distrito, predicción de brotes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2A28"/>
                </a:solidFill>
                <a:latin typeface="Calibri"/>
              </a:rPr>
              <a:t>• API institucional MINSA/DIRESA/SINADEF — exportación epidemiológica, sincronización de centros de salud y alertas regionales, autenticada por API Key con scopes, rate limiting y auditoría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2A28"/>
                </a:solidFill>
                <a:latin typeface="Calibri"/>
              </a:rPr>
              <a:t>• HL7/FHIR — interoperabilidad con estándares internacionales de salud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F2A28"/>
                </a:solidFill>
                <a:latin typeface="Calibri"/>
              </a:rPr>
              <a:t>• Consentimientos informados con auditoría GDPR/LOPD · Swagger UI en /api/docs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Módulos — AI / ML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Calibri"/>
              </a:rPr>
              <a:t>Python /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Análisis de síntomas — clasificación y probabilidad de enfermedades respiratorias (NLP)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Análisis de imágenes médicas — ResNet50 para 8 tipos: radiografías, TC, espirometría, oximetría, expectoración, erupción, cianosis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Análisis de audio/tos — 6 tipos de tos clasificados; transcripción multilingüe con Whisper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Chatbot multimodal — texto + imagen + audio integrado con OpenAI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Experimentos ML — registro, comparación y versionado de modelos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Monitoreo de fairness — métricas de equidad en modelos clínicos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Rate limiting (token bucket por IP) · Swagger/ReDoc en /ai/docs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Módulos — Frontend Web y App Móvil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• Frontend Web (React 18 / Vercel)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Panel del médico rediseñado (/monitoring): stat cards, tabla de pacientes con riesgo de 4 niveles, tendencia de SpO₂ y feed de alertas</a:t>
            </a:r>
          </a:p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Analytics dashboard con gráficos interactivos (Recharts)</a:t>
            </a:r>
          </a:p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Agenda médica, consola de alertas, historial clínico, prescripciones, referidos</a:t>
            </a:r>
          </a:p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Herramientas admin integradas (MongoDB Express, Redis Commander)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• App Móvil (Next.js 16 + Capacitor)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Offline-first con cola de sincronización SQLite</a:t>
            </a:r>
          </a:p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Wearables BLE + Health Connect / HealthKit con plugins nativos reales</a:t>
            </a:r>
          </a:p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Análisis multimodal: imágenes, audio, chatbot con IA</a:t>
            </a:r>
          </a:p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Biometría, geolocalización de emergencias, notificaciones locales</a:t>
            </a:r>
          </a:p>
          <a:p>
            <a:pPr lvl="1">
              <a:spcAft>
                <a:spcPts val="1000"/>
              </a:spcAft>
            </a:pPr>
            <a:r>
              <a:rPr sz="1100">
                <a:solidFill>
                  <a:srgbClr val="0F2A28"/>
                </a:solidFill>
                <a:latin typeface="Calibri"/>
              </a:rPr>
              <a:t>– i18n: ES, EN (placeholders PT, FR, QU — Quechua)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Sprint 13 (1/2) — Interoperabilidad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Calibri"/>
              </a:rPr>
              <a:t>Cerrado — 6/6 entregables aceptados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Brecha detectada fuera del alcance original (FD02/FD03), tras revisar requerimientos y avance frente al SRS/Visión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API institucional MINSA/DIRESA/SINADEF autenticada por API Key, con scopes granulares, rate limiting y auditoría dedicados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OpenAPI 3.0 dedicado para el consumidor externo (backend/openapi/institutional-api.yaml)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Capacidades: exportación epidemiológica agregada, sincronización del catálogo de centros de salud, recepción de alertas sanitarias regionales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Tests de integración e2e en verde (institutional.integration.test.ts, institutionalAuth.test.ts)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Sprint 13 (2/2) — Wearables como Validación Clínica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  <a:latin typeface="Calibri"/>
              </a:rPr>
              <a:t>Cerrado — decisión técnica documentada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Vitales de wearables (FC, SpO₂, frecuencia respiratoria) incorporados al motor de IA como capa de validación clínica basada en reglas, con fallback automático si no hay datos recientes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Decisión de diseño: en vez de reentrenar los modelos ML con vitales como feature (hubiera requerido rediseñar el pipeline de un clasificador de texto a uno tabular), se optó por reglas clínicas — mismo objetivo funcional, sin ese costo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Panel del médico rediseñado (/monitoring) para visualizar estos datos en tiempo real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Tests en verde: test_medical_validation_rules.py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Lección aprendida: verificar la naturaleza del modelo (texto vs. tabular) antes de comprometer "feature engineering" como entregable literal.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Seguridad — Hallazgo y Corrección Aplicada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B02A2A"/>
                </a:solidFill>
                <a:latin typeface="Calibri"/>
              </a:rPr>
              <a:t>• Hallazgo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300">
                <a:solidFill>
                  <a:srgbClr val="0F2A28"/>
                </a:solidFill>
                <a:latin typeface="Calibri"/>
              </a:rPr>
              <a:t>– Una clave real FIELD_ENCRYPTION_KEY (AES-256) quedó publicada en README.md y en el compose de desarrollo, lo que podía comprometer el cifrado de campos sensibles en MongoDB.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9933"/>
                </a:solidFill>
                <a:latin typeface="Calibri"/>
              </a:rPr>
              <a:t>• Corrección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</a:pPr>
            <a:r>
              <a:rPr sz="1200">
                <a:solidFill>
                  <a:srgbClr val="0F2A28"/>
                </a:solidFill>
                <a:latin typeface="Calibri"/>
              </a:rPr>
              <a:t>– Clave real reemplazada por placeholder/instrucción de generación en README, docker-compose.dev.yml y documentación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0F2A28"/>
                </a:solidFill>
                <a:latin typeface="Calibri"/>
              </a:rPr>
              <a:t>– Script de rotación de clave (rotateFieldEncryptionKey.ts) — re-cifra en Mongo con clave vieja/nueva sin tocar los hooks de Mongoose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0F2A28"/>
                </a:solidFill>
                <a:latin typeface="Calibri"/>
              </a:rPr>
              <a:t>– Verificado con gitleaks: 0 coincidencias tras la corrección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0F2A28"/>
                </a:solidFill>
                <a:latin typeface="Calibri"/>
              </a:rPr>
              <a:t>– .env.production/.env.server/.env.vm confirmados sin secretos reales (solo placeholders); el único .env con valores reales está correctamente en .gitignore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0F2A28"/>
                </a:solidFill>
                <a:latin typeface="Calibri"/>
              </a:rPr>
              <a:t>– Rotación de la clave real en el servidor de producción: pendiente, a ejecutar por el equipo con el runbook entregado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Calidad — Estado de Build y Tests por Servicio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42416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Servicio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Build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10424160" cy="822960"/>
          </a:xfrm>
          <a:prstGeom prst="rect">
            <a:avLst/>
          </a:prstGeom>
          <a:solidFill>
            <a:srgbClr val="F4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28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28"/>
                </a:solidFill>
                <a:latin typeface="Calibri"/>
              </a:rPr>
              <a:t>OK — multi-stage, imagen liviana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28"/>
                </a:solidFill>
                <a:latin typeface="Calibri"/>
              </a:rPr>
              <a:t>154/155 suites · 2483/2491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28"/>
                </a:solidFill>
                <a:latin typeface="Calibri"/>
              </a:rPr>
              <a:t>AI / ML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108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28"/>
                </a:solidFill>
                <a:latin typeface="Calibri"/>
              </a:rPr>
              <a:t>OK — 5.44 GB (incluye deps 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28"/>
                </a:solidFill>
                <a:latin typeface="Calibri"/>
              </a:rPr>
              <a:t>1929 passed · 14 failed · 5 skipped (de 1948)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94760"/>
            <a:ext cx="10424160" cy="822960"/>
          </a:xfrm>
          <a:prstGeom prst="rect">
            <a:avLst/>
          </a:prstGeom>
          <a:solidFill>
            <a:srgbClr val="F4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28"/>
                </a:solidFill>
                <a:latin typeface="Calibri"/>
              </a:rPr>
              <a:t>Frontend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931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28"/>
                </a:solidFill>
                <a:latin typeface="Calibri"/>
              </a:rP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A28"/>
                </a:solidFill>
                <a:latin typeface="Calibri"/>
              </a:rPr>
              <a:t>28/84 suites (deuda de tests preexistente, no bloqueante)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Los fallos de AI Services se concentran en tests de estrategia de modelo local/transformer (torch) y no afectan el flujo por defecto (OpenAI) ni la imagen desplegada. Las suites de Web fallidas son deuda de tests obsoletos ya identificada; Web se despliega en Vercel, fuera del stack Docker de producción.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Estado de Despliegue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424160" cy="594360"/>
          </a:xfrm>
          <a:prstGeom prst="rect">
            <a:avLst/>
          </a:prstGeom>
          <a:solidFill>
            <a:srgbClr val="F4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28"/>
                </a:solidFill>
                <a:latin typeface="Calibri"/>
              </a:rPr>
              <a:t>Frontend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9933"/>
                </a:solidFill>
                <a:latin typeface="Calibri"/>
              </a:rPr>
              <a:t>✅ Activo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Vercel (rama fabian)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28"/>
                </a:solidFill>
                <a:latin typeface="Calibri"/>
              </a:rP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12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9933"/>
                </a:solidFill>
                <a:latin typeface="Calibri"/>
              </a:rPr>
              <a:t>✅ 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128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Docker + Nginx + Cloudflare Tunnel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79776"/>
            <a:ext cx="10424160" cy="594360"/>
          </a:xfrm>
          <a:prstGeom prst="rect">
            <a:avLst/>
          </a:prstGeom>
          <a:solidFill>
            <a:srgbClr val="F4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7121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28"/>
                </a:solidFill>
                <a:latin typeface="Calibri"/>
              </a:rPr>
              <a:t>AI / ML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712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9933"/>
                </a:solidFill>
                <a:latin typeface="Calibri"/>
              </a:rPr>
              <a:t>✅ Activo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Docker +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958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28"/>
                </a:solidFill>
                <a:latin typeface="Calibri"/>
              </a:rPr>
              <a:t>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52958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9933"/>
                </a:solidFill>
                <a:latin typeface="Calibri"/>
              </a:rPr>
              <a:t>✅ Activo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95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MongoDB 6.0 (Docker)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96512"/>
            <a:ext cx="10424160" cy="594360"/>
          </a:xfrm>
          <a:prstGeom prst="rect">
            <a:avLst/>
          </a:prstGeom>
          <a:solidFill>
            <a:srgbClr val="F4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879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28"/>
                </a:solidFill>
                <a:latin typeface="Calibri"/>
              </a:rPr>
              <a:t>Caché / Sesiones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187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9933"/>
                </a:solidFill>
                <a:latin typeface="Calibri"/>
              </a:rPr>
              <a:t>✅ Activo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879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Redis 7 (Docker)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28"/>
                </a:solidFill>
                <a:latin typeface="Calibri"/>
              </a:rPr>
              <a:t>App Móvil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9933"/>
                </a:solidFill>
                <a:latin typeface="Calibri"/>
              </a:rPr>
              <a:t>✅ Compilable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2A28"/>
                </a:solidFill>
                <a:latin typeface="Calibri"/>
              </a:rPr>
              <a:t>Capacitor Android (APK debug/release)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Metodología Ágil — Scrum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14 sprints (Sprint 0 a Sprint 13), todos cerrados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Sprint 0–12: 278 story points completados (objetivo: 240 → 116%)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Velocity promedio: 23.1 SP/sprint (objetivo: 20 → 116%)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Sprint 13: extensión de alcance (interoperabilidad institucional + wearables-IA), 6/6 entregables cerrados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Ceremonias: Sprint Planning, Daily Standup, Sprint Review, Retrospectiva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Framework: Scrum adaptado con elementos Kanban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F2A28"/>
                </a:solidFill>
                <a:latin typeface="Calibri"/>
              </a:rPr>
              <a:t>• Documentación completa: SRS, SAD, matriz de trazabilidad, planes de iteración por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Resultados y Métricas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83280" cy="1737360"/>
          </a:xfrm>
          <a:prstGeom prst="roundRect">
            <a:avLst/>
          </a:prstGeom>
          <a:solidFill>
            <a:srgbClr val="F4F9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009688"/>
                </a:solidFill>
              </a:rPr>
              <a:t>99.81%</a:t>
            </a:r>
          </a:p>
          <a:p>
            <a:pPr algn="ctr"/>
            <a:r>
              <a:rPr sz="1300">
                <a:solidFill>
                  <a:srgbClr val="0F2A28"/>
                </a:solidFill>
              </a:rPr>
              <a:t>ML Accuracy (XGBoost)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383280" cy="1737360"/>
          </a:xfrm>
          <a:prstGeom prst="roundRect">
            <a:avLst/>
          </a:prstGeom>
          <a:solidFill>
            <a:srgbClr val="F4F9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009688"/>
                </a:solidFill>
              </a:rPr>
              <a:t>278 SP</a:t>
            </a:r>
          </a:p>
          <a:p>
            <a:pPr algn="ctr"/>
            <a:r>
              <a:rPr sz="1300">
                <a:solidFill>
                  <a:srgbClr val="0F2A28"/>
                </a:solidFill>
              </a:rPr>
              <a:t>Story points completados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1737360"/>
          </a:xfrm>
          <a:prstGeom prst="roundRect">
            <a:avLst/>
          </a:prstGeom>
          <a:solidFill>
            <a:srgbClr val="F4F9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009688"/>
                </a:solidFill>
              </a:rPr>
              <a:t>2483</a:t>
            </a:r>
          </a:p>
          <a:p>
            <a:pPr algn="ctr"/>
            <a:r>
              <a:rPr sz="1300">
                <a:solidFill>
                  <a:srgbClr val="0F2A28"/>
                </a:solidFill>
              </a:rPr>
              <a:t>Tests backend en verde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1880"/>
            <a:ext cx="3383280" cy="1737360"/>
          </a:xfrm>
          <a:prstGeom prst="roundRect">
            <a:avLst/>
          </a:prstGeom>
          <a:solidFill>
            <a:srgbClr val="F4F9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009688"/>
                </a:solidFill>
              </a:rPr>
              <a:t>1929</a:t>
            </a:r>
          </a:p>
          <a:p>
            <a:pPr algn="ctr"/>
            <a:r>
              <a:rPr sz="1300">
                <a:solidFill>
                  <a:srgbClr val="0F2A28"/>
                </a:solidFill>
              </a:rPr>
              <a:t>Tests AI/ML en verde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611880"/>
            <a:ext cx="3383280" cy="1737360"/>
          </a:xfrm>
          <a:prstGeom prst="roundRect">
            <a:avLst/>
          </a:prstGeom>
          <a:solidFill>
            <a:srgbClr val="F4F9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009688"/>
                </a:solidFill>
              </a:rPr>
              <a:t>14</a:t>
            </a:r>
          </a:p>
          <a:p>
            <a:pPr algn="ctr"/>
            <a:r>
              <a:rPr sz="1300">
                <a:solidFill>
                  <a:srgbClr val="0F2A28"/>
                </a:solidFill>
              </a:rPr>
              <a:t>Sprints cerrados (0–13)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11880"/>
            <a:ext cx="3383280" cy="1737360"/>
          </a:xfrm>
          <a:prstGeom prst="roundRect">
            <a:avLst/>
          </a:prstGeom>
          <a:solidFill>
            <a:srgbClr val="F4F9F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009688"/>
                </a:solidFill>
              </a:rPr>
              <a:t>0</a:t>
            </a:r>
          </a:p>
          <a:p>
            <a:pPr algn="ctr"/>
            <a:r>
              <a:rPr sz="1300">
                <a:solidFill>
                  <a:srgbClr val="0F2A28"/>
                </a:solidFill>
              </a:rPr>
              <a:t>Secretos reales en git tras la 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RespiCare integra backend, IA/ML, web y móvil en una plataforma clínica funcional y desplegable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El sistema de IA combina NLP, visión (ResNet50) y audio (Whisper) con validación clínica basada en reglas usando datos de wearables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La interoperabilidad institucional (MINSA/DIRESA/SINADEF, HL7/FHIR) conecta el sistema con actores externos de salud pública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La metodología Scrum permitió cerrar 14 sprints con entregas incrementales verificables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El proyecto está en condiciones de desplegarse a producción: builds limpios y cobertura de tests alta en los tres servicios de servidor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Trabajo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Rotar la clave de cifrado real en el servidor de producción (runbook ya entregado al equipo)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Resolver la deuda de tests obsoletos/frágiles en el frontend web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Explorar reentrenamiento de modelos ML incorporando vitales de wearables como feature tabular (evaluado en Sprint 13, no ejecutado por costo de rediseño de pipeline)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Expandir integraciones institucionales a más autoridades de salud regionales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F2A28"/>
                </a:solidFill>
                <a:latin typeface="Calibri"/>
              </a:rPr>
              <a:t>• Evaluar despliegue en otras regiones del sur del Perú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4A4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Calibri"/>
              </a:rPr>
              <a:t>RespiCare — Detección de Enfermedades Respiratorias en Tacna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FE0D6"/>
                </a:solidFill>
                <a:latin typeface="Calibri"/>
              </a:rPr>
              <a:t>Preguntas y discusión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